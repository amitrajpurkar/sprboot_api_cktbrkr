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Shape 1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/>
            <a:r>
              <a:t>2026/01/13: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Shape 1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2026/01/13: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on IDE differences and also how different LLMS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9" name="Shape 2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on how different roles will fit with Speckit.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a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odcasts.apple.com/us/podcast/how-ai-will-change-software-engineering-with-martin-fowler/id1769051199?i=1000737446931" TargetMode="External"/><Relationship Id="rId3" Type="http://schemas.openxmlformats.org/officeDocument/2006/relationships/hyperlink" Target="https://martinfowler.com/articles/legacy-modernization-gen-ai.html" TargetMode="External"/><Relationship Id="rId4" Type="http://schemas.openxmlformats.org/officeDocument/2006/relationships/hyperlink" Target="https://www.thoughtworks.com/en-in/insights/podcasts/technology-podcasts/using-generative-ai-legacy-modernization" TargetMode="External"/><Relationship Id="rId5" Type="http://schemas.openxmlformats.org/officeDocument/2006/relationships/hyperlink" Target="https://youtu.be/6aD4c_izpnE?si=visMMXLY5mkJrQ8j" TargetMode="External"/><Relationship Id="rId6" Type="http://schemas.openxmlformats.org/officeDocument/2006/relationships/hyperlink" Target="https://youtu.be/yNH52oDpIKw?si=TFH8X0ErUW6E7-_O" TargetMode="External"/><Relationship Id="rId7" Type="http://schemas.openxmlformats.org/officeDocument/2006/relationships/hyperlink" Target="https://www.deeplearning.ai/" TargetMode="External"/><Relationship Id="rId8" Type="http://schemas.openxmlformats.org/officeDocument/2006/relationships/hyperlink" Target="https://www.anthropic.com/learn" TargetMode="Externa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s: Amit with Wai team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Authors: Amit with Wai team</a:t>
            </a:r>
          </a:p>
        </p:txBody>
      </p:sp>
      <p:sp>
        <p:nvSpPr>
          <p:cNvPr id="172" name="“how can SpecKit be applied to legacy application”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“how can SpecKit be applied to legacy application”</a:t>
            </a:r>
          </a:p>
        </p:txBody>
      </p:sp>
      <p:sp>
        <p:nvSpPr>
          <p:cNvPr id="173" name="Prep work for podca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Prep work for podcast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nning for the convers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Planning for the conversation </a:t>
            </a:r>
          </a:p>
        </p:txBody>
      </p:sp>
      <p:sp>
        <p:nvSpPr>
          <p:cNvPr id="176" name="Topic: how can SpecKit be applied to legacy application…"/>
          <p:cNvSpPr txBox="1"/>
          <p:nvPr>
            <p:ph type="body" idx="1"/>
          </p:nvPr>
        </p:nvSpPr>
        <p:spPr>
          <a:xfrm>
            <a:off x="1206500" y="2645066"/>
            <a:ext cx="21971000" cy="9859450"/>
          </a:xfrm>
          <a:prstGeom prst="rect">
            <a:avLst/>
          </a:prstGeom>
        </p:spPr>
        <p:txBody>
          <a:bodyPr/>
          <a:lstStyle/>
          <a:p>
            <a:pPr/>
            <a:r>
              <a:t>Topic: how can SpecKit be applied to legacy application</a:t>
            </a:r>
          </a:p>
          <a:p>
            <a:pPr/>
            <a:r>
              <a:t>Demonstrate one application with talking points </a:t>
            </a:r>
          </a:p>
          <a:p>
            <a:pPr/>
            <a:r>
              <a:t>white-labelled experiment = git@github.com:amitrajpurkar/sprboot_api_cktBrkr.git</a:t>
            </a:r>
          </a:p>
          <a:p>
            <a:pPr/>
            <a:r>
              <a:t>Sequence</a:t>
            </a:r>
          </a:p>
          <a:p>
            <a:pPr lvl="1">
              <a:spcBef>
                <a:spcPts val="1000"/>
              </a:spcBef>
              <a:defRPr sz="2800"/>
            </a:pPr>
            <a:r>
              <a:t>Context/ background … pages 3-6 : xxx minutes… 20%</a:t>
            </a:r>
          </a:p>
          <a:p>
            <a:pPr lvl="1">
              <a:spcBef>
                <a:spcPts val="1000"/>
              </a:spcBef>
              <a:defRPr sz="2800"/>
            </a:pPr>
            <a:r>
              <a:t>Where and how this experiment fits … pages 7 : xxx minutes… 10%</a:t>
            </a:r>
          </a:p>
          <a:p>
            <a:pPr lvl="1">
              <a:spcBef>
                <a:spcPts val="1000"/>
              </a:spcBef>
              <a:defRPr sz="2800"/>
            </a:pPr>
            <a:r>
              <a:t>Journey of this experiment … pages 8-17 : xxx minutes… 60%</a:t>
            </a:r>
          </a:p>
          <a:p>
            <a:pPr lvl="1">
              <a:spcBef>
                <a:spcPts val="1000"/>
              </a:spcBef>
              <a:defRPr sz="2800"/>
            </a:pPr>
            <a:r>
              <a:t>Summary and other observations … pages 18 : xxx minutes… 5% </a:t>
            </a:r>
          </a:p>
          <a:p>
            <a:pPr lvl="1">
              <a:spcBef>
                <a:spcPts val="1000"/>
              </a:spcBef>
              <a:defRPr sz="2800"/>
            </a:pPr>
            <a:r>
              <a:t>Ending thoughts … pages 19-21 : xxx minutes… 5%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ontext for Legacy Applic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indent="434340" defTabSz="2316479">
              <a:defRPr spc="-95" sz="9500"/>
            </a:pPr>
            <a:r>
              <a:t>Context for Legacy Application</a:t>
            </a:r>
          </a:p>
        </p:txBody>
      </p:sp>
      <p:sp>
        <p:nvSpPr>
          <p:cNvPr id="181" name="Qualities of Legacy application…"/>
          <p:cNvSpPr txBox="1"/>
          <p:nvPr>
            <p:ph type="body" sz="half" idx="1"/>
          </p:nvPr>
        </p:nvSpPr>
        <p:spPr>
          <a:xfrm>
            <a:off x="11022478" y="2550460"/>
            <a:ext cx="12059517" cy="10278639"/>
          </a:xfrm>
          <a:prstGeom prst="rect">
            <a:avLst/>
          </a:prstGeom>
        </p:spPr>
        <p:txBody>
          <a:bodyPr/>
          <a:lstStyle/>
          <a:p>
            <a:pPr/>
            <a:r>
              <a:t>Qualities of Legacy application</a:t>
            </a:r>
          </a:p>
          <a:p>
            <a:pPr lvl="1">
              <a:spcBef>
                <a:spcPts val="1000"/>
              </a:spcBef>
              <a:defRPr sz="2400"/>
            </a:pPr>
            <a:r>
              <a:t>Technical Characteristics: outdated tech, tight coupling, poor architecture/ design, low testability</a:t>
            </a:r>
          </a:p>
          <a:p>
            <a:pPr lvl="1">
              <a:spcBef>
                <a:spcPts val="1000"/>
              </a:spcBef>
              <a:defRPr sz="2400"/>
            </a:pPr>
            <a:r>
              <a:t>Human factors: loss of institutional knowledge; skill scarcity</a:t>
            </a:r>
          </a:p>
          <a:p>
            <a:pPr lvl="1">
              <a:spcBef>
                <a:spcPts val="1000"/>
              </a:spcBef>
              <a:defRPr sz="2400"/>
            </a:pPr>
            <a:r>
              <a:t>Operational Characteristics: high risk of change, costly maintenance </a:t>
            </a:r>
          </a:p>
          <a:p>
            <a:pPr lvl="1">
              <a:spcBef>
                <a:spcPts val="1000"/>
              </a:spcBef>
              <a:defRPr sz="2400"/>
            </a:pPr>
            <a:r>
              <a:t>Business &amp; Strategic factors: misaligned with current business needs, compliance/ security risks</a:t>
            </a:r>
          </a:p>
          <a:p>
            <a:pPr/>
            <a:r>
              <a:t>Different ways to address Legacy application </a:t>
            </a:r>
          </a:p>
          <a:p>
            <a:pPr lvl="1">
              <a:spcBef>
                <a:spcPts val="1000"/>
              </a:spcBef>
              <a:defRPr sz="2400"/>
            </a:pPr>
            <a:r>
              <a:t>Leave as is</a:t>
            </a:r>
          </a:p>
          <a:p>
            <a:pPr lvl="1">
              <a:spcBef>
                <a:spcPts val="1000"/>
              </a:spcBef>
              <a:defRPr sz="2400"/>
            </a:pPr>
            <a:r>
              <a:t>Refactor/ Modernize</a:t>
            </a:r>
          </a:p>
          <a:p>
            <a:pPr lvl="1">
              <a:spcBef>
                <a:spcPts val="1000"/>
              </a:spcBef>
              <a:defRPr sz="2400"/>
            </a:pPr>
            <a:r>
              <a:t>Re-platform</a:t>
            </a:r>
          </a:p>
          <a:p>
            <a:pPr lvl="1">
              <a:spcBef>
                <a:spcPts val="1000"/>
              </a:spcBef>
              <a:defRPr sz="2400"/>
            </a:pPr>
            <a:r>
              <a:t>Rewrite/ Replace</a:t>
            </a:r>
          </a:p>
          <a:p>
            <a:pPr lvl="1">
              <a:spcBef>
                <a:spcPts val="1000"/>
              </a:spcBef>
              <a:defRPr sz="2400"/>
            </a:pPr>
            <a:r>
              <a:t>Strangler pattern</a:t>
            </a:r>
          </a:p>
          <a:p>
            <a:pPr/>
            <a:r>
              <a:t>Observation: </a:t>
            </a:r>
          </a:p>
          <a:p>
            <a:pPr lvl="1">
              <a:spcBef>
                <a:spcPts val="1000"/>
              </a:spcBef>
              <a:defRPr sz="2400"/>
            </a:pPr>
            <a:r>
              <a:t>Investigate both code as well as business requirements; get latest business requirements; use AI to analyze -&gt; document -&gt; get specs; AI for wrap-around testing; tackle one feature at a time; 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3301" y="2534083"/>
            <a:ext cx="10401301" cy="264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32087" y="9409756"/>
            <a:ext cx="7137401" cy="318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703238" y="5768719"/>
            <a:ext cx="6997701" cy="304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ontext for AI Code Assista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indent="434340" defTabSz="2316479">
              <a:defRPr spc="-95" sz="9500"/>
            </a:pPr>
            <a:r>
              <a:t>Context for AI Code Assistants</a:t>
            </a:r>
          </a:p>
        </p:txBody>
      </p:sp>
      <p:sp>
        <p:nvSpPr>
          <p:cNvPr id="190" name="AI does not replace a task; it augments and helps with automation; work is still done by the developer…"/>
          <p:cNvSpPr txBox="1"/>
          <p:nvPr>
            <p:ph type="body" idx="1"/>
          </p:nvPr>
        </p:nvSpPr>
        <p:spPr>
          <a:xfrm>
            <a:off x="1206500" y="2428745"/>
            <a:ext cx="21971000" cy="10075771"/>
          </a:xfrm>
          <a:prstGeom prst="rect">
            <a:avLst/>
          </a:prstGeom>
        </p:spPr>
        <p:txBody>
          <a:bodyPr/>
          <a:lstStyle/>
          <a:p>
            <a:pPr/>
            <a:r>
              <a:t>AI does not replace a task; it augments and helps with automation; work is still done by the developer</a:t>
            </a:r>
          </a:p>
          <a:p>
            <a:pPr/>
            <a:r>
              <a:t>Developer is responsible for the code generated by the AI Assistant based on prompts provided</a:t>
            </a:r>
          </a:p>
          <a:p>
            <a:pPr/>
            <a:r>
              <a:t>Large number of Coding Assistants are available; all are fairly similar; its a developers choice to pick one as per their style and need</a:t>
            </a:r>
          </a:p>
          <a:p>
            <a:pPr/>
            <a:r>
              <a:t>These code assistants can provide in-line suggestions while the developer is writing code or they allow developers to chat with it allowing AI to write code.</a:t>
            </a:r>
          </a:p>
          <a:p>
            <a:pPr/>
            <a:r>
              <a:t>SpecKit works with the chatbot option to generate the specifications; The developer along the way will need to use both styles of interaction with AI to reach the final outcome </a:t>
            </a:r>
          </a:p>
        </p:txBody>
      </p:sp>
      <p:sp>
        <p:nvSpPr>
          <p:cNvPr id="191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ystem prompt vs User promp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System prompt vs User prompt</a:t>
            </a:r>
          </a:p>
        </p:txBody>
      </p:sp>
      <p:sp>
        <p:nvSpPr>
          <p:cNvPr id="196" name="System prompts establish how the AI Assistant should behave; provides global context, sets priorities; remains consistent across many user prompts…"/>
          <p:cNvSpPr txBox="1"/>
          <p:nvPr>
            <p:ph type="body" sz="half" idx="1"/>
          </p:nvPr>
        </p:nvSpPr>
        <p:spPr>
          <a:xfrm>
            <a:off x="12392255" y="2436140"/>
            <a:ext cx="10785245" cy="10068376"/>
          </a:xfrm>
          <a:prstGeom prst="rect">
            <a:avLst/>
          </a:prstGeom>
        </p:spPr>
        <p:txBody>
          <a:bodyPr/>
          <a:lstStyle/>
          <a:p>
            <a:pPr/>
            <a:r>
              <a:t>System prompts establish how the AI Assistant should behave; provides global context, sets priorities; remains consistent across many user prompts</a:t>
            </a:r>
          </a:p>
          <a:p>
            <a:pPr/>
            <a:r>
              <a:t>User prompts describe what task to perform right now, the context, inputs, constraints for that task</a:t>
            </a:r>
          </a:p>
          <a:p>
            <a:pPr/>
            <a:r>
              <a:t>In a way, SpecKit helps provide system prompts in a standardized way; streamlines development practice across a team of developers.</a:t>
            </a:r>
          </a:p>
        </p:txBody>
      </p:sp>
      <p:pic>
        <p:nvPicPr>
          <p:cNvPr id="19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6871" y="2409825"/>
            <a:ext cx="10083801" cy="825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032" y="3470313"/>
            <a:ext cx="7620001" cy="50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5404" y="4213301"/>
            <a:ext cx="8991601" cy="3467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7700" y="9268526"/>
            <a:ext cx="6832600" cy="2197101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ontext for SpecK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Context for SpecKit</a:t>
            </a:r>
          </a:p>
        </p:txBody>
      </p:sp>
      <p:pic>
        <p:nvPicPr>
          <p:cNvPr id="20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1317" y="2684468"/>
            <a:ext cx="10248901" cy="730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207912" y="8149294"/>
            <a:ext cx="9956801" cy="3619501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SpecKit provides set of templates for AI Code Assistants (pull the latest).. use CLI to configure these templates for your Code Assistant or setup manually…"/>
          <p:cNvSpPr txBox="1"/>
          <p:nvPr>
            <p:ph type="body" sz="half" idx="1"/>
          </p:nvPr>
        </p:nvSpPr>
        <p:spPr>
          <a:xfrm>
            <a:off x="12392255" y="2436140"/>
            <a:ext cx="10785245" cy="10068376"/>
          </a:xfrm>
          <a:prstGeom prst="rect">
            <a:avLst/>
          </a:prstGeom>
        </p:spPr>
        <p:txBody>
          <a:bodyPr/>
          <a:lstStyle/>
          <a:p>
            <a:pPr marL="457199" indent="-457199">
              <a:defRPr sz="3000"/>
            </a:pPr>
            <a:r>
              <a:t>SpecKit provides set of templates for AI Code Assistants (pull the latest).. use CLI to configure these templates for your Code Assistant or setup manually</a:t>
            </a:r>
          </a:p>
          <a:p>
            <a:pPr marL="457199" indent="-457199">
              <a:defRPr sz="3000"/>
            </a:pPr>
            <a:r>
              <a:t>Philosophy: document the specification, plan, tasks very well before making code changes</a:t>
            </a:r>
          </a:p>
          <a:p>
            <a:pPr marL="457199" indent="-457199">
              <a:defRPr sz="3000"/>
            </a:pPr>
            <a:r>
              <a:t>What this means for a developer: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“</a:t>
            </a:r>
            <a:r>
              <a:rPr b="1" u="sng">
                <a:latin typeface="Graphik"/>
                <a:ea typeface="Graphik"/>
                <a:cs typeface="Graphik"/>
                <a:sym typeface="Graphik"/>
              </a:rPr>
              <a:t>document</a:t>
            </a:r>
            <a:r>
              <a:t> </a:t>
            </a:r>
            <a:r>
              <a:rPr u="sng"/>
              <a:t>accurately before you code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” </a:t>
            </a:r>
          </a:p>
        </p:txBody>
      </p:sp>
      <p:sp>
        <p:nvSpPr>
          <p:cNvPr id="207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Migrating a sample application from old tech stack to new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Migrating a sample application from old tech stack to new</a:t>
            </a:r>
          </a:p>
        </p:txBody>
      </p:sp>
      <p:sp>
        <p:nvSpPr>
          <p:cNvPr id="210" name="About the Experi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About the Experiment</a:t>
            </a:r>
          </a:p>
        </p:txBody>
      </p:sp>
      <p:sp>
        <p:nvSpPr>
          <p:cNvPr id="211" name="Why is this app legacy? a working application written in 2020 on older tech stack; newer versions of Java, Gradle do not support that stack; one of the key libraries is no longer supported today; a demo app with rest APIs which are expected to run 24/7 w"/>
          <p:cNvSpPr txBox="1"/>
          <p:nvPr>
            <p:ph type="body" idx="1"/>
          </p:nvPr>
        </p:nvSpPr>
        <p:spPr>
          <a:xfrm>
            <a:off x="1206500" y="3859534"/>
            <a:ext cx="21971000" cy="9033951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Why is this app legacy? a working application written in 2020 on older tech stack; newer versions of Java, Gradle do not support that stack; one of the key libraries is no longer supported today; a demo app with rest APIs which are expected to run 24/7 with a high transaction volume of up to 3,000 transactions per minute.</a:t>
            </a:r>
          </a:p>
          <a:p>
            <a:pPr>
              <a:defRPr sz="3200"/>
            </a:pPr>
            <a:r>
              <a:t>This experiment was started before I knew about SpecKit; hence it used AI Assistant following a plan and set sequence of instructions </a:t>
            </a:r>
          </a:p>
          <a:p>
            <a:pPr>
              <a:defRPr sz="3200"/>
            </a:pPr>
            <a:r>
              <a:t>Refactoring and modernization technique was used </a:t>
            </a:r>
          </a:p>
          <a:p>
            <a:pPr>
              <a:defRPr sz="3200"/>
            </a:pPr>
            <a:r>
              <a:t>Key points: </a:t>
            </a:r>
          </a:p>
          <a:p>
            <a:pPr lvl="1">
              <a:spcBef>
                <a:spcPts val="2000"/>
              </a:spcBef>
              <a:defRPr sz="3200"/>
            </a:pPr>
            <a:r>
              <a:t>Initial app was developed by myself in 2017; so the entire codebase as well as business requirements were well known; this was not a black-box</a:t>
            </a:r>
          </a:p>
          <a:p>
            <a:pPr lvl="1">
              <a:spcBef>
                <a:spcPts val="2000"/>
              </a:spcBef>
              <a:defRPr sz="3200"/>
            </a:pPr>
            <a:r>
              <a:t>Target tech stack after upgrade was also known before hand</a:t>
            </a:r>
          </a:p>
          <a:p>
            <a:pPr lvl="1">
              <a:spcBef>
                <a:spcPts val="2000"/>
              </a:spcBef>
              <a:defRPr sz="3200"/>
            </a:pPr>
            <a:r>
              <a:t>Experiment was with sequencing instructions to the AI Assistant and testing each step of the way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nning to work with A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Planning to work with AI</a:t>
            </a:r>
          </a:p>
        </p:txBody>
      </p:sp>
      <p:sp>
        <p:nvSpPr>
          <p:cNvPr id="214" name="How I planned/ broke-down migration effort into phases and steps for making changes…"/>
          <p:cNvSpPr txBox="1"/>
          <p:nvPr>
            <p:ph type="body" idx="1"/>
          </p:nvPr>
        </p:nvSpPr>
        <p:spPr>
          <a:xfrm>
            <a:off x="1206500" y="2808469"/>
            <a:ext cx="21971000" cy="9696047"/>
          </a:xfrm>
          <a:prstGeom prst="rect">
            <a:avLst/>
          </a:prstGeom>
        </p:spPr>
        <p:txBody>
          <a:bodyPr/>
          <a:lstStyle/>
          <a:p>
            <a:pPr/>
            <a:r>
              <a:t>How I planned/ broke-down migration effort into phases and steps for making changes </a:t>
            </a:r>
          </a:p>
          <a:p>
            <a:pPr/>
            <a:r>
              <a:t>Sequencing and prioritization of the phases and steps</a:t>
            </a:r>
          </a:p>
          <a:p>
            <a:pPr/>
            <a:r>
              <a:t>Making the AI analyze the current codebase itself and match its analysis with my own experience creating the original app</a:t>
            </a:r>
          </a:p>
          <a:p>
            <a:pPr/>
            <a:r>
              <a:t>Getting the ground ready to let AI start making changes</a:t>
            </a:r>
          </a:p>
          <a:p>
            <a:pPr/>
            <a:r>
              <a:t>Key point —&gt; we don’t start coding directly when using AI.. we need to plan, document and be very specific on what we need to do.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AI reviews, shows findings, Developer verifies"/>
          <p:cNvSpPr txBox="1"/>
          <p:nvPr>
            <p:ph type="body" idx="21"/>
          </p:nvPr>
        </p:nvSpPr>
        <p:spPr>
          <a:xfrm>
            <a:off x="1206500" y="1850782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4400"/>
            </a:lvl1pPr>
          </a:lstStyle>
          <a:p>
            <a:pPr/>
            <a:r>
              <a:t>AI reviews, shows findings, Developer verifies</a:t>
            </a:r>
          </a:p>
        </p:txBody>
      </p:sp>
      <p:sp>
        <p:nvSpPr>
          <p:cNvPr id="217" name="Glimpse of First Analysis"/>
          <p:cNvSpPr txBox="1"/>
          <p:nvPr>
            <p:ph type="title"/>
          </p:nvPr>
        </p:nvSpPr>
        <p:spPr>
          <a:xfrm>
            <a:off x="1206500" y="226967"/>
            <a:ext cx="21971000" cy="1689101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Glimpse of First Analysis</a:t>
            </a:r>
          </a:p>
        </p:txBody>
      </p:sp>
      <p:sp>
        <p:nvSpPr>
          <p:cNvPr id="218" name="Ask AI Code Assistant to analyze the codebase…"/>
          <p:cNvSpPr txBox="1"/>
          <p:nvPr>
            <p:ph type="body" sz="half" idx="1"/>
          </p:nvPr>
        </p:nvSpPr>
        <p:spPr>
          <a:xfrm>
            <a:off x="15958008" y="1962631"/>
            <a:ext cx="7607633" cy="10541885"/>
          </a:xfrm>
          <a:prstGeom prst="rect">
            <a:avLst/>
          </a:prstGeom>
        </p:spPr>
        <p:txBody>
          <a:bodyPr/>
          <a:lstStyle/>
          <a:p>
            <a:pPr/>
            <a:r>
              <a:t>Ask AI Code Assistant to analyze the codebase</a:t>
            </a:r>
          </a:p>
          <a:p>
            <a:pPr/>
            <a:r>
              <a:t>As a developer, verify the findings documented by AI </a:t>
            </a:r>
          </a:p>
          <a:p>
            <a:pPr/>
            <a:r>
              <a:t>In my case, being the original developer of this application written in 2020, I was able to verify accuracy of the analysis</a:t>
            </a:r>
          </a:p>
        </p:txBody>
      </p:sp>
      <p:pic>
        <p:nvPicPr>
          <p:cNvPr id="21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7455" y="2845565"/>
            <a:ext cx="8792156" cy="3654145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2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92762" y="5459776"/>
            <a:ext cx="7321360" cy="6948365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2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9543" y="6900963"/>
            <a:ext cx="7118830" cy="3122883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First Analysis continu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First Analysis continued</a:t>
            </a:r>
          </a:p>
        </p:txBody>
      </p:sp>
      <p:sp>
        <p:nvSpPr>
          <p:cNvPr id="224" name="Even before I showed AI my plan for migration, it had listed correctly which features were good and which outdated.…"/>
          <p:cNvSpPr txBox="1"/>
          <p:nvPr>
            <p:ph type="body" sz="quarter" idx="1"/>
          </p:nvPr>
        </p:nvSpPr>
        <p:spPr>
          <a:xfrm>
            <a:off x="8971222" y="2515834"/>
            <a:ext cx="14206278" cy="3214775"/>
          </a:xfrm>
          <a:prstGeom prst="rect">
            <a:avLst/>
          </a:prstGeom>
        </p:spPr>
        <p:txBody>
          <a:bodyPr/>
          <a:lstStyle/>
          <a:p>
            <a:pPr/>
            <a:r>
              <a:t>Even before I showed AI my plan for migration, it had listed correctly which features were good and which outdated.</a:t>
            </a:r>
          </a:p>
          <a:p>
            <a:pPr/>
            <a:r>
              <a:t>This also helped me update my own plan for migration</a:t>
            </a:r>
          </a:p>
        </p:txBody>
      </p:sp>
      <p:pic>
        <p:nvPicPr>
          <p:cNvPr id="22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5250" y="2561868"/>
            <a:ext cx="5978641" cy="4282424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2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0070" y="7088410"/>
            <a:ext cx="5969001" cy="5765801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2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648338" y="7359605"/>
            <a:ext cx="4839998" cy="5483743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033107" y="7375639"/>
            <a:ext cx="5041901" cy="45466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sp>
        <p:nvSpPr>
          <p:cNvPr id="229" name="After migration was completed"/>
          <p:cNvSpPr txBox="1"/>
          <p:nvPr/>
        </p:nvSpPr>
        <p:spPr>
          <a:xfrm>
            <a:off x="12649474" y="6493132"/>
            <a:ext cx="10447405" cy="79502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After migration was completed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Drafting the pla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Drafting the plan</a:t>
            </a:r>
          </a:p>
        </p:txBody>
      </p:sp>
      <p:sp>
        <p:nvSpPr>
          <p:cNvPr id="232" name="Step 1: ask AI to analyze codebase; describe what this application is and what key features it has (NOTE: this later part is because I was the original developer)…"/>
          <p:cNvSpPr txBox="1"/>
          <p:nvPr>
            <p:ph type="body" idx="1"/>
          </p:nvPr>
        </p:nvSpPr>
        <p:spPr>
          <a:xfrm>
            <a:off x="1206500" y="2996866"/>
            <a:ext cx="21971000" cy="9507650"/>
          </a:xfrm>
          <a:prstGeom prst="rect">
            <a:avLst/>
          </a:prstGeom>
        </p:spPr>
        <p:txBody>
          <a:bodyPr/>
          <a:lstStyle/>
          <a:p>
            <a:pPr/>
            <a:r>
              <a:t>Step 1: ask AI to analyze codebase; describe what this application is and what key features it has (NOTE: this later part is because I was the original developer)</a:t>
            </a:r>
          </a:p>
          <a:p>
            <a:pPr/>
            <a:r>
              <a:t>Step 2: ask AI to create a step by step plan for migrating this application to latest stack and document this plan in a markdown file. Give it a hint to use gradle 9, java 21</a:t>
            </a:r>
          </a:p>
          <a:p>
            <a:pPr/>
            <a:r>
              <a:t>Step 3: ask AI to create separate migration plan for circuit breaker migration and save that in another markdown; give hint to use resilience4j (Here as well I had researched this lib before hand)</a:t>
            </a:r>
          </a:p>
          <a:p>
            <a:pPr/>
            <a:r>
              <a:t>Step 4: ask AI to create another plan for changing backend from mongodb to H2</a:t>
            </a:r>
          </a:p>
          <a:p>
            <a:pPr/>
            <a:r>
              <a:t>NOTE: separate research was done beforehand on steps 2, 3, 4; experiment was observing how AI was addressing these tasks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omparing my approach with specki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Comparing my approach with speckit</a:t>
            </a:r>
          </a:p>
        </p:txBody>
      </p:sp>
      <p:sp>
        <p:nvSpPr>
          <p:cNvPr id="235" name="Journey of chang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Journey of changes</a:t>
            </a:r>
          </a:p>
        </p:txBody>
      </p:sp>
      <p:sp>
        <p:nvSpPr>
          <p:cNvPr id="236" name="Further experimenting on other greenfield projects using speckit; the sequential plan I used here was in line with speckits’ specify, clarify, plan commands…"/>
          <p:cNvSpPr txBox="1"/>
          <p:nvPr>
            <p:ph type="body" idx="1"/>
          </p:nvPr>
        </p:nvSpPr>
        <p:spPr>
          <a:xfrm>
            <a:off x="1206500" y="3470183"/>
            <a:ext cx="21971000" cy="9034333"/>
          </a:xfrm>
          <a:prstGeom prst="rect">
            <a:avLst/>
          </a:prstGeom>
        </p:spPr>
        <p:txBody>
          <a:bodyPr/>
          <a:lstStyle/>
          <a:p>
            <a:pPr/>
            <a:r>
              <a:t>Further experimenting on other greenfield projects using speckit; the sequential plan I used here was in line with speckits’ specify, clarify, plan commands</a:t>
            </a:r>
          </a:p>
          <a:p>
            <a:pPr/>
            <a:r>
              <a:t>The features or changes needed were called out in steps 2, 3, 4</a:t>
            </a:r>
          </a:p>
          <a:p>
            <a:pPr/>
            <a:r>
              <a:t>Also fair amount of interaction went behind each steps to get it to a desired level: java/springboot-upgrade; circuit-breaker-upgrade; database-upgrade;</a:t>
            </a:r>
          </a:p>
          <a:p>
            <a:pPr/>
            <a:r>
              <a:t>One important distinction; in this experiment I was having AI implement each step fully at a time; unlike executing “task-command” followed by “implement”; </a:t>
            </a:r>
          </a:p>
          <a:p>
            <a:pPr/>
            <a:r>
              <a:t>Also for each code change AI was making, I was verifying those changes, testing with unit tests and then committing changes that looked good.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ompare with specki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Compare with speckit</a:t>
            </a:r>
          </a:p>
        </p:txBody>
      </p:sp>
      <p:sp>
        <p:nvSpPr>
          <p:cNvPr id="239" name="Backend working with new sta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Backend working with new stack</a:t>
            </a:r>
          </a:p>
        </p:txBody>
      </p:sp>
      <p:sp>
        <p:nvSpPr>
          <p:cNvPr id="240" name="In the migration experiment I had fair amount of interaction with AI to reach on a good enough upgrade; later experiments using speckit proved that if specification and plan is build with careful details, these iterations can be controlled…"/>
          <p:cNvSpPr txBox="1"/>
          <p:nvPr>
            <p:ph type="body" sz="half" idx="1"/>
          </p:nvPr>
        </p:nvSpPr>
        <p:spPr>
          <a:xfrm>
            <a:off x="1206500" y="3685802"/>
            <a:ext cx="21971000" cy="4062334"/>
          </a:xfrm>
          <a:prstGeom prst="rect">
            <a:avLst/>
          </a:prstGeom>
        </p:spPr>
        <p:txBody>
          <a:bodyPr/>
          <a:lstStyle/>
          <a:p>
            <a:pPr marL="347472" indent="-347472" defTabSz="270255">
              <a:spcBef>
                <a:spcPts val="3500"/>
              </a:spcBef>
              <a:defRPr sz="3040"/>
            </a:pPr>
            <a:r>
              <a:t>In the migration experiment I had fair amount of interaction with AI to reach on a good enough upgrade; later experiments using speckit proved that if specification and plan is build with careful details, these iterations can be controlled </a:t>
            </a:r>
          </a:p>
          <a:p>
            <a:pPr marL="347472" indent="-347472" defTabSz="270255">
              <a:spcBef>
                <a:spcPts val="3500"/>
              </a:spcBef>
              <a:defRPr sz="3040"/>
            </a:pPr>
            <a:r>
              <a:t>It took me 3-4 weeks to complete steps 2, 3, 4 as outlined before. — speckit can help reduce this time</a:t>
            </a:r>
          </a:p>
          <a:p>
            <a:pPr marL="347472" indent="-347472" defTabSz="270255">
              <a:spcBef>
                <a:spcPts val="3500"/>
              </a:spcBef>
              <a:defRPr sz="3040"/>
            </a:pPr>
            <a:r>
              <a:t>Verifying changes made by AI using test cases was also important; on some occasions I also had AI generate more test cases. I was manually checking these in the Windsurf to see how these tests ran.</a:t>
            </a:r>
          </a:p>
        </p:txBody>
      </p:sp>
      <p:pic>
        <p:nvPicPr>
          <p:cNvPr id="24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93678" y="7362156"/>
            <a:ext cx="9662917" cy="5867444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Increase testabi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Increase testability</a:t>
            </a:r>
          </a:p>
        </p:txBody>
      </p:sp>
      <p:sp>
        <p:nvSpPr>
          <p:cNvPr id="244" name="My initial test cases in the original application were only checking on the service layer, repository layer, and Aspects…"/>
          <p:cNvSpPr txBox="1"/>
          <p:nvPr>
            <p:ph type="body" idx="1"/>
          </p:nvPr>
        </p:nvSpPr>
        <p:spPr>
          <a:xfrm>
            <a:off x="1206500" y="2522528"/>
            <a:ext cx="21971000" cy="9981988"/>
          </a:xfrm>
          <a:prstGeom prst="rect">
            <a:avLst/>
          </a:prstGeom>
        </p:spPr>
        <p:txBody>
          <a:bodyPr/>
          <a:lstStyle/>
          <a:p>
            <a:pPr/>
            <a:r>
              <a:t>My initial test cases in the original application were only checking on the service layer, repository layer, and Aspects</a:t>
            </a:r>
          </a:p>
          <a:p>
            <a:pPr/>
            <a:r>
              <a:t>With code changes made by AI I started adding more tests around utilities, service layer and even controller</a:t>
            </a:r>
          </a:p>
          <a:p>
            <a:pPr/>
            <a:r>
              <a:t>Next I used AI to increase my test coverage to a higher level than before</a:t>
            </a:r>
          </a:p>
          <a:p>
            <a:pPr/>
            <a:r>
              <a:t>Classifying test cases per feature using BDD style test cases is helpful for pair programming with AI; more so as you are detailing fine-grain specifications; so its better to test is the code is satisfying those specifications.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Adding new fea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Adding new feature</a:t>
            </a:r>
          </a:p>
        </p:txBody>
      </p:sp>
      <p:sp>
        <p:nvSpPr>
          <p:cNvPr id="247" name="This app was not having a client for the API — either a web-frontend or a CLI; so next came feature additions now that the essential upgrade was done.…"/>
          <p:cNvSpPr txBox="1"/>
          <p:nvPr>
            <p:ph type="body" idx="1"/>
          </p:nvPr>
        </p:nvSpPr>
        <p:spPr>
          <a:xfrm>
            <a:off x="1206500" y="2656350"/>
            <a:ext cx="21971000" cy="9848166"/>
          </a:xfrm>
          <a:prstGeom prst="rect">
            <a:avLst/>
          </a:prstGeom>
        </p:spPr>
        <p:txBody>
          <a:bodyPr/>
          <a:lstStyle/>
          <a:p>
            <a:pPr/>
            <a:r>
              <a:t>This app was not having a client for the API — either a web-frontend or a CLI; so next came feature additions now that the essential upgrade was done.</a:t>
            </a:r>
          </a:p>
          <a:p>
            <a:pPr/>
            <a:r>
              <a:t>I asked AI to add a frontend UI in ReactJS and that it should be a single page application </a:t>
            </a:r>
          </a:p>
          <a:p>
            <a:pPr/>
            <a:r>
              <a:t>This also ran through numerous iterations till desirable frontend UI was working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Adding documentation for the ap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Adding documentation for the app</a:t>
            </a:r>
          </a:p>
        </p:txBody>
      </p:sp>
      <p:sp>
        <p:nvSpPr>
          <p:cNvPr id="250" name="Over the 5 week period working with AI to migrate the legacy application to new tech stack, I had been making my notes each day. After both backend and frontend were working as desired, now was a good time to capture all notes in the repository itself…"/>
          <p:cNvSpPr txBox="1"/>
          <p:nvPr>
            <p:ph type="body" idx="1"/>
          </p:nvPr>
        </p:nvSpPr>
        <p:spPr>
          <a:xfrm>
            <a:off x="1206500" y="2668655"/>
            <a:ext cx="21971000" cy="9835861"/>
          </a:xfrm>
          <a:prstGeom prst="rect">
            <a:avLst/>
          </a:prstGeom>
        </p:spPr>
        <p:txBody>
          <a:bodyPr/>
          <a:lstStyle/>
          <a:p>
            <a:pPr/>
            <a:r>
              <a:t>Over the 5 week period working with AI to migrate the legacy application to new tech stack, I had been making my notes each day. After both backend and frontend were working as desired, now was a good time to capture all notes in the repository itself</a:t>
            </a:r>
          </a:p>
          <a:p>
            <a:pPr/>
            <a:r>
              <a:t>I had AI generate documentation, of my journey — project summary, architecture, migration guides for gradle, resilience4j, H2; implementation guides, test summaries, code review, quick start guides, etc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-arrange docs to Mkdo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Re-arrange docs to Mkdocs</a:t>
            </a:r>
          </a:p>
        </p:txBody>
      </p:sp>
      <p:sp>
        <p:nvSpPr>
          <p:cNvPr id="253" name="For my experiment, I hand crafted the mkdocs for this application using documentation generated by AI…"/>
          <p:cNvSpPr txBox="1"/>
          <p:nvPr>
            <p:ph type="body" idx="1"/>
          </p:nvPr>
        </p:nvSpPr>
        <p:spPr>
          <a:xfrm>
            <a:off x="1206500" y="2588132"/>
            <a:ext cx="21971000" cy="9916384"/>
          </a:xfrm>
          <a:prstGeom prst="rect">
            <a:avLst/>
          </a:prstGeom>
        </p:spPr>
        <p:txBody>
          <a:bodyPr/>
          <a:lstStyle/>
          <a:p>
            <a:pPr/>
            <a:r>
              <a:t>For my experiment, I hand crafted the mkdocs for this application using documentation generated by AI</a:t>
            </a:r>
          </a:p>
          <a:p>
            <a:pPr/>
            <a:r>
              <a:t>I arranged the pages, the navigation, wrote my own index page and few others to organize documentation in certain way</a:t>
            </a:r>
          </a:p>
          <a:p>
            <a:pPr/>
            <a:r>
              <a:t>With thoughtful planning this could be achieved by asking AI generate documents in this layout and structure.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ummarizing this experi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Summarizing this experiment </a:t>
            </a:r>
          </a:p>
        </p:txBody>
      </p:sp>
      <p:sp>
        <p:nvSpPr>
          <p:cNvPr id="256" name="As my first experiment playing with AI Code Assistant, this did give me insight on how I should be interacting with AI…"/>
          <p:cNvSpPr txBox="1"/>
          <p:nvPr>
            <p:ph type="body" idx="1"/>
          </p:nvPr>
        </p:nvSpPr>
        <p:spPr>
          <a:xfrm>
            <a:off x="1206500" y="3670374"/>
            <a:ext cx="21971000" cy="8834142"/>
          </a:xfrm>
          <a:prstGeom prst="rect">
            <a:avLst/>
          </a:prstGeom>
        </p:spPr>
        <p:txBody>
          <a:bodyPr/>
          <a:lstStyle/>
          <a:p>
            <a:pPr/>
            <a:r>
              <a:t>As my first experiment playing with AI Code Assistant, this did give me insight on how I should be interacting with AI</a:t>
            </a:r>
          </a:p>
          <a:p>
            <a:pPr/>
            <a:r>
              <a:t>I experimented with SpecKit separately on simple example projects from scratch </a:t>
            </a:r>
          </a:p>
          <a:p>
            <a:pPr/>
            <a:r>
              <a:t>If I need to experiment on a large legacy system and also make use of SpecKit; my personal approach will be to isolate one feature or aspect of that legacy app and work with AI using SpecKit to understand and document the behavior of that feature; verify with business partners before making any changes.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“Working effectively with Legacy Code” by Michael Feathers (2004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“Working effectively with Legacy Code” by Michael Feathers (2004)</a:t>
            </a:r>
          </a:p>
        </p:txBody>
      </p:sp>
      <p:sp>
        <p:nvSpPr>
          <p:cNvPr id="259" name="Old advice is still releva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Old advice is still relevant </a:t>
            </a:r>
          </a:p>
        </p:txBody>
      </p:sp>
      <p:sp>
        <p:nvSpPr>
          <p:cNvPr id="260" name="First add tests and then do your chang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First add tests and then do your changes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Identify places to alter program behavior without changing code (“seams”)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Create tests that characterizes behavior of the piece of code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Use sprout and wrap techniques 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Sprout: create code in separate module/ package; test it; identify insertion point; call it from legacy code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Wrap: rename old method you want to wrap; create a new method with same signature as old; call old method from new; put logic before &amp; after call; like AOP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rovide references to what other developers are research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Provide references to what other developers are researching </a:t>
            </a:r>
          </a:p>
        </p:txBody>
      </p:sp>
      <p:sp>
        <p:nvSpPr>
          <p:cNvPr id="263" name="From other develop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From other developers</a:t>
            </a:r>
          </a:p>
        </p:txBody>
      </p:sp>
      <p:sp>
        <p:nvSpPr>
          <p:cNvPr id="264" name="Follow podcasts/ spotify/ YouTube from leading developer organizations: Thoughtworks, MartinFowler, Info-Q, ChangeLog, Software Engineering podcast; — plus the key sources: Anthropic, OpenAI, Google, Microsof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6615" indent="-356615" defTabSz="277368">
              <a:spcBef>
                <a:spcPts val="3600"/>
              </a:spcBef>
              <a:defRPr sz="3120"/>
            </a:pPr>
            <a:r>
              <a:t>Follow podcasts/ spotify/ YouTube from leading developer organizations: Thoughtworks, MartinFowler, Info-Q, ChangeLog, Software Engineering podcast; — plus the key sources: Anthropic, OpenAI, Google, Microsoft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2" invalidUrl="" action="" tgtFrame="" tooltip="" history="1" highlightClick="0" endSnd="0"/>
              </a:rPr>
              <a:t>https://podcasts.apple.com/us/podcast/how-ai-will-change-software-engineering-with-martin-fowler/id1769051199?i=1000737446931</a:t>
            </a:r>
            <a:r>
              <a:t> 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3" invalidUrl="" action="" tgtFrame="" tooltip="" history="1" highlightClick="0" endSnd="0"/>
              </a:rPr>
              <a:t>https://martinfowler.com/articles/legacy-modernization-gen-ai.html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4" invalidUrl="" action="" tgtFrame="" tooltip="" history="1" highlightClick="0" endSnd="0"/>
              </a:rPr>
              <a:t>https://www.thoughtworks.com/en-in/insights/podcasts/technology-podcasts/using-generative-ai-legacy-modernization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5" invalidUrl="" action="" tgtFrame="" tooltip="" history="1" highlightClick="0" endSnd="0"/>
              </a:rPr>
              <a:t>https://youtu.be/6aD4c_izpnE?si=visMMXLY5mkJrQ8j</a:t>
            </a:r>
            <a:r>
              <a:t> 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6" invalidUrl="" action="" tgtFrame="" tooltip="" history="1" highlightClick="0" endSnd="0"/>
              </a:rPr>
              <a:t>https://youtu.be/yNH52oDpIKw?si=TFH8X0ErUW6E7-_O</a:t>
            </a:r>
            <a:r>
              <a:t> 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7" invalidUrl="" action="" tgtFrame="" tooltip="" history="1" highlightClick="0" endSnd="0"/>
              </a:rPr>
              <a:t>https://www.deeplearning.ai/</a:t>
            </a:r>
            <a:r>
              <a:t>.  …. </a:t>
            </a:r>
            <a:r>
              <a:rPr u="sng">
                <a:hlinkClick r:id="rId8" invalidUrl="" action="" tgtFrame="" tooltip="" history="1" highlightClick="0" endSnd="0"/>
              </a:rPr>
              <a:t>https://www.anthropic.com/learn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Ending though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Ending thoughts</a:t>
            </a:r>
          </a:p>
        </p:txBody>
      </p:sp>
      <p:sp>
        <p:nvSpPr>
          <p:cNvPr id="267" name="AI is still evolving at a very rapid pace.. standardization in coding practice using AI is in its infanc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is still evolving at a very rapid pace.. standardization in coding practice using AI is in its infancy </a:t>
            </a:r>
          </a:p>
          <a:p>
            <a:pPr/>
            <a:r>
              <a:t>Developers need to try the tools and experiment with different approaches as they surface.</a:t>
            </a:r>
          </a:p>
          <a:p>
            <a:pPr/>
            <a:r>
              <a:t>SpecKit is providing one such path; Claude Code is also using a very similar approach using “skills, scripts, templates, workflows” (comparing to memory, scripts, templates, workflows in SpecKit)</a:t>
            </a:r>
          </a:p>
          <a:p>
            <a:pPr/>
            <a:r>
              <a:t>If you don’t use SpecKit like approach, the developer needs to babysit with AI for a long 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