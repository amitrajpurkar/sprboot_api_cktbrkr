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1pPr>
    <a:lvl2pPr marL="0" marR="0" indent="4572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2pPr>
    <a:lvl3pPr marL="0" marR="0" indent="9144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3pPr>
    <a:lvl4pPr marL="0" marR="0" indent="13716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4pPr>
    <a:lvl5pPr marL="0" marR="0" indent="18288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5pPr>
    <a:lvl6pPr marL="0" marR="0" indent="22860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6pPr>
    <a:lvl7pPr marL="0" marR="0" indent="27432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7pPr>
    <a:lvl8pPr marL="0" marR="0" indent="32004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8pPr>
    <a:lvl9pPr marL="0" marR="0" indent="36576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Row>
  </a:tblStyle>
  <a:tblStyle styleId="{C7B018BB-80A7-4F77-B60F-C8B233D01FF8}"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2">
              <a:hueOff val="-357243"/>
              <a:satOff val="7293"/>
              <a:lumOff val="8906"/>
            </a:schemeClr>
          </a:solidFill>
        </a:fill>
      </a:tcStyle>
    </a:firstRow>
  </a:tblStyle>
  <a:tblStyle styleId="{EEE7283C-3CF3-47DC-8721-378D4A62B228}"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3">
              <a:satOff val="1412"/>
              <a:lumOff val="16412"/>
            </a:schemeClr>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atOff val="1412"/>
                  <a:lumOff val="16412"/>
                </a:schemeClr>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6E937E"/>
          </a:solidFill>
        </a:fill>
      </a:tcStyle>
    </a:firstRow>
  </a:tblStyle>
  <a:tblStyle styleId="{CF821DB8-F4EB-4A41-A1BA-3FCAFE7338EE}"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AF7E9"/>
          </a:solidFill>
        </a:fill>
      </a:tcStyle>
    </a:wholeTbl>
    <a:band2H>
      <a:tcTxStyle b="def" i="def"/>
      <a:tcStyle>
        <a:tcBdr/>
        <a:fill>
          <a:solidFill>
            <a:srgbClr val="FFF171"/>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A51B"/>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E1A84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AF7E9"/>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4">
              <a:hueOff val="103425"/>
              <a:satOff val="-7243"/>
              <a:lumOff val="9921"/>
            </a:schemeClr>
          </a:solidFill>
        </a:fill>
      </a:tcStyle>
    </a:firstRow>
  </a:tblStyle>
  <a:tblStyle styleId="{33BA23B1-9221-436E-865A-0063620EA4FD}"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chemeClr val="accent5"/>
          </a:solidFill>
        </a:fill>
      </a:tcStyle>
    </a:band2H>
    <a:firstCol>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5">
              <a:lumOff val="-14283"/>
            </a:schemeClr>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5">
                  <a:lumOff val="-14283"/>
                </a:schemeClr>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5">
              <a:satOff val="-6299"/>
              <a:lumOff val="-32309"/>
            </a:schemeClr>
          </a:solidFill>
        </a:fill>
      </a:tcStyle>
    </a:firstRow>
  </a:tblStyle>
  <a:tblStyle styleId="{2708684C-4D16-4618-839F-0558EEFCDFE6}"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EDEEEE"/>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5D5D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6500" y="12268950"/>
            <a:ext cx="21971000" cy="660401"/>
          </a:xfrm>
          <a:prstGeom prst="rect">
            <a:avLst/>
          </a:prstGeom>
        </p:spPr>
        <p:txBody>
          <a:bodyPr lIns="45719" tIns="45719" rIns="45719" bIns="45719" anchor="b"/>
          <a:lstStyle>
            <a:lvl1pPr marL="0" indent="0" defTabSz="825500">
              <a:spcBef>
                <a:spcPts val="0"/>
              </a:spcBef>
              <a:buSzTx/>
              <a:buNone/>
              <a:defRPr sz="3300">
                <a:latin typeface="Produkt Light"/>
                <a:ea typeface="Produkt Light"/>
                <a:cs typeface="Produkt Light"/>
                <a:sym typeface="Produkt Light"/>
              </a:defRPr>
            </a:lvl1pPr>
          </a:lstStyle>
          <a:p>
            <a:pPr/>
            <a:r>
              <a:t>Author and Date</a:t>
            </a:r>
          </a:p>
        </p:txBody>
      </p:sp>
      <p:sp>
        <p:nvSpPr>
          <p:cNvPr id="12" name="Body Level One…"/>
          <p:cNvSpPr txBox="1"/>
          <p:nvPr>
            <p:ph type="body" sz="quarter" idx="1"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Presentation Subtitle</a:t>
            </a:r>
          </a:p>
          <a:p>
            <a:pPr lvl="1"/>
            <a:r>
              <a:t/>
            </a:r>
          </a:p>
          <a:p>
            <a:pPr lvl="2"/>
            <a:r>
              <a:t/>
            </a:r>
          </a:p>
          <a:p>
            <a:pPr lvl="3"/>
            <a:r>
              <a:t/>
            </a:r>
          </a:p>
          <a:p>
            <a:pPr lvl="4"/>
            <a:r>
              <a:t/>
            </a:r>
          </a:p>
        </p:txBody>
      </p:sp>
      <p:sp>
        <p:nvSpPr>
          <p:cNvPr id="13" name="Presentation Title"/>
          <p:cNvSpPr txBox="1"/>
          <p:nvPr>
            <p:ph type="title" hasCustomPrompt="1"/>
          </p:nvPr>
        </p:nvSpPr>
        <p:spPr>
          <a:xfrm>
            <a:off x="1206500" y="2616200"/>
            <a:ext cx="21971004" cy="4648200"/>
          </a:xfrm>
          <a:prstGeom prst="rect">
            <a:avLst/>
          </a:prstGeom>
        </p:spPr>
        <p:txBody>
          <a:bodyPr anchor="b"/>
          <a:lstStyle>
            <a:lvl1pPr defTabSz="355600">
              <a:defRPr spc="-119" sz="12000"/>
            </a:lvl1pPr>
          </a:lstStyle>
          <a:p>
            <a:pPr/>
            <a:r>
              <a:t>Presentation Title</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Futuristic, curved, white structure"/>
          <p:cNvSpPr/>
          <p:nvPr>
            <p:ph type="pic" idx="21"/>
          </p:nvPr>
        </p:nvSpPr>
        <p:spPr>
          <a:xfrm>
            <a:off x="0" y="-5397500"/>
            <a:ext cx="27190700" cy="20393025"/>
          </a:xfrm>
          <a:prstGeom prst="rect">
            <a:avLst/>
          </a:prstGeom>
        </p:spPr>
        <p:txBody>
          <a:bodyPr lIns="91439" tIns="45719" rIns="91439" bIns="45719">
            <a:noAutofit/>
          </a:bodyPr>
          <a:lstStyle/>
          <a:p>
            <a:pPr/>
          </a:p>
        </p:txBody>
      </p:sp>
      <p:sp>
        <p:nvSpPr>
          <p:cNvPr id="22" name="Author and Date"/>
          <p:cNvSpPr txBox="1"/>
          <p:nvPr>
            <p:ph type="body" sz="quarter" idx="22" hasCustomPrompt="1"/>
          </p:nvPr>
        </p:nvSpPr>
        <p:spPr>
          <a:xfrm>
            <a:off x="1206500" y="12268200"/>
            <a:ext cx="21971000" cy="660400"/>
          </a:xfrm>
          <a:prstGeom prst="rect">
            <a:avLst/>
          </a:prstGeom>
        </p:spPr>
        <p:txBody>
          <a:bodyPr lIns="45719" tIns="45719" rIns="45719" bIns="45719" anchor="b"/>
          <a:lstStyle>
            <a:lvl1pPr marL="0" indent="0" defTabSz="825500">
              <a:spcBef>
                <a:spcPts val="0"/>
              </a:spcBef>
              <a:buSzTx/>
              <a:buNone/>
              <a:defRPr sz="3300">
                <a:latin typeface="Produkt Light"/>
                <a:ea typeface="Produkt Light"/>
                <a:cs typeface="Produkt Light"/>
                <a:sym typeface="Produkt Light"/>
              </a:defRPr>
            </a:lvl1pPr>
          </a:lstStyle>
          <a:p>
            <a:pPr/>
            <a:r>
              <a:t>Author and Date</a:t>
            </a:r>
          </a:p>
        </p:txBody>
      </p:sp>
      <p:sp>
        <p:nvSpPr>
          <p:cNvPr id="23" name="Body Level One…"/>
          <p:cNvSpPr txBox="1"/>
          <p:nvPr>
            <p:ph type="body" sz="quarter" idx="1"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Presentation Subtitle</a:t>
            </a:r>
          </a:p>
          <a:p>
            <a:pPr lvl="1"/>
            <a:r>
              <a:t/>
            </a:r>
          </a:p>
          <a:p>
            <a:pPr lvl="2"/>
            <a:r>
              <a:t/>
            </a:r>
          </a:p>
          <a:p>
            <a:pPr lvl="3"/>
            <a:r>
              <a:t/>
            </a:r>
          </a:p>
          <a:p>
            <a:pPr lvl="4"/>
            <a:r>
              <a:t/>
            </a:r>
          </a:p>
        </p:txBody>
      </p:sp>
      <p:sp>
        <p:nvSpPr>
          <p:cNvPr id="24" name="Presentation Title"/>
          <p:cNvSpPr txBox="1"/>
          <p:nvPr>
            <p:ph type="title" hasCustomPrompt="1"/>
          </p:nvPr>
        </p:nvSpPr>
        <p:spPr>
          <a:xfrm>
            <a:off x="1206500" y="2616200"/>
            <a:ext cx="21971004" cy="4648200"/>
          </a:xfrm>
          <a:prstGeom prst="rect">
            <a:avLst/>
          </a:prstGeom>
        </p:spPr>
        <p:txBody>
          <a:bodyPr anchor="b"/>
          <a:lstStyle>
            <a:lvl1pPr defTabSz="355600">
              <a:defRPr spc="-119" sz="12000"/>
            </a:lvl1pPr>
          </a:lstStyle>
          <a:p>
            <a:pPr/>
            <a:r>
              <a:t>Presentation Title</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Close-up of a curved, white, layered pattern"/>
          <p:cNvSpPr/>
          <p:nvPr>
            <p:ph type="pic" idx="21"/>
          </p:nvPr>
        </p:nvSpPr>
        <p:spPr>
          <a:xfrm>
            <a:off x="11569700" y="0"/>
            <a:ext cx="13716000" cy="137160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3335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150100"/>
            <a:ext cx="9779000" cy="5385424"/>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43" name="Slide Title"/>
          <p:cNvSpPr txBox="1"/>
          <p:nvPr>
            <p:ph type="title" hasCustomPrompt="1"/>
          </p:nvPr>
        </p:nvSpPr>
        <p:spPr>
          <a:prstGeom prst="rect">
            <a:avLst/>
          </a:prstGeom>
        </p:spPr>
        <p:txBody>
          <a:bodyPr/>
          <a:lstStyle/>
          <a:p>
            <a:pPr/>
            <a:r>
              <a:t>Slide 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Close-up of the edge of white curved stone"/>
          <p:cNvSpPr/>
          <p:nvPr>
            <p:ph type="pic" idx="21"/>
          </p:nvPr>
        </p:nvSpPr>
        <p:spPr>
          <a:xfrm>
            <a:off x="12382500" y="-1206500"/>
            <a:ext cx="12103100" cy="16140313"/>
          </a:xfrm>
          <a:prstGeom prst="rect">
            <a:avLst/>
          </a:prstGeom>
        </p:spPr>
        <p:txBody>
          <a:bodyPr lIns="91439" tIns="45719" rIns="91439" bIns="45719">
            <a:noAutofit/>
          </a:bodyPr>
          <a:lstStyle/>
          <a:p>
            <a:pPr/>
          </a:p>
        </p:txBody>
      </p:sp>
      <p:sp>
        <p:nvSpPr>
          <p:cNvPr id="61" name="Slide Subtitle"/>
          <p:cNvSpPr txBox="1"/>
          <p:nvPr>
            <p:ph type="body" sz="quarter" idx="22" hasCustomPrompt="1"/>
          </p:nvPr>
        </p:nvSpPr>
        <p:spPr>
          <a:xfrm>
            <a:off x="1206500" y="2324100"/>
            <a:ext cx="9779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62" name="Slide Title"/>
          <p:cNvSpPr txBox="1"/>
          <p:nvPr>
            <p:ph type="title" hasCustomPrompt="1"/>
          </p:nvPr>
        </p:nvSpPr>
        <p:spPr>
          <a:xfrm>
            <a:off x="1206500" y="635000"/>
            <a:ext cx="9779000" cy="1689100"/>
          </a:xfrm>
          <a:prstGeom prst="rect">
            <a:avLst/>
          </a:prstGeom>
        </p:spPr>
        <p:txBody>
          <a:bodyPr/>
          <a:lstStyle/>
          <a:p>
            <a:pPr/>
            <a:r>
              <a:t>Slide Title</a:t>
            </a:r>
          </a:p>
        </p:txBody>
      </p:sp>
      <p:sp>
        <p:nvSpPr>
          <p:cNvPr id="6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72" name="Slide Title"/>
          <p:cNvSpPr txBox="1"/>
          <p:nvPr>
            <p:ph type="title" hasCustomPrompt="1"/>
          </p:nvPr>
        </p:nvSpPr>
        <p:spPr>
          <a:prstGeom prst="rect">
            <a:avLst/>
          </a:prstGeom>
        </p:spPr>
        <p:txBody>
          <a:bodyPr/>
          <a:lstStyle/>
          <a:p>
            <a:pPr/>
            <a:r>
              <a:t>Slide Title</a:t>
            </a:r>
          </a:p>
        </p:txBody>
      </p:sp>
      <p:sp>
        <p:nvSpPr>
          <p:cNvPr id="7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24100"/>
            <a:ext cx="9779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82" name="Slide Title"/>
          <p:cNvSpPr txBox="1"/>
          <p:nvPr>
            <p:ph type="title" hasCustomPrompt="1"/>
          </p:nvPr>
        </p:nvSpPr>
        <p:spPr>
          <a:xfrm>
            <a:off x="1206500" y="635000"/>
            <a:ext cx="9779000" cy="1689100"/>
          </a:xfrm>
          <a:prstGeom prst="rect">
            <a:avLst/>
          </a:prstGeom>
        </p:spPr>
        <p:txBody>
          <a:bodyPr/>
          <a:lstStyle/>
          <a:p>
            <a:pPr/>
            <a:r>
              <a:t>Slide Title</a:t>
            </a:r>
          </a:p>
        </p:txBody>
      </p:sp>
      <p:sp>
        <p:nvSpPr>
          <p:cNvPr id="8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3911600"/>
            <a:ext cx="21971004" cy="4648200"/>
          </a:xfrm>
          <a:prstGeom prst="rect">
            <a:avLst/>
          </a:prstGeom>
        </p:spPr>
        <p:txBody>
          <a:bodyPr anchor="ctr"/>
          <a:lstStyle>
            <a:lvl1pPr>
              <a:defRPr spc="-119" sz="12000"/>
            </a:lvl1pPr>
          </a:lstStyle>
          <a:p>
            <a:pPr/>
            <a:r>
              <a:t>Section Title</a:t>
            </a:r>
          </a:p>
        </p:txBody>
      </p:sp>
      <p:sp>
        <p:nvSpPr>
          <p:cNvPr id="9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100" name="Slide Title"/>
          <p:cNvSpPr txBox="1"/>
          <p:nvPr>
            <p:ph type="title" hasCustomPrompt="1"/>
          </p:nvPr>
        </p:nvSpPr>
        <p:spPr>
          <a:prstGeom prst="rect">
            <a:avLst/>
          </a:prstGeom>
        </p:spPr>
        <p:txBody>
          <a:bodyPr/>
          <a:lstStyle/>
          <a:p>
            <a:pPr/>
            <a:r>
              <a:t>Slide 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Agenda Subtitle</a:t>
            </a:r>
          </a:p>
        </p:txBody>
      </p:sp>
      <p:sp>
        <p:nvSpPr>
          <p:cNvPr id="109" name="Body Level One…"/>
          <p:cNvSpPr txBox="1"/>
          <p:nvPr>
            <p:ph type="body" idx="1" hasCustomPrompt="1"/>
          </p:nvPr>
        </p:nvSpPr>
        <p:spPr>
          <a:prstGeom prst="rect">
            <a:avLst/>
          </a:prstGeom>
        </p:spPr>
        <p:txBody>
          <a:bodyPr/>
          <a:lstStyle>
            <a:lvl1pPr marL="0" indent="0">
              <a:spcBef>
                <a:spcPts val="6000"/>
              </a:spcBef>
              <a:buSzTx/>
              <a:buNone/>
              <a:defRPr sz="5000"/>
            </a:lvl1pPr>
            <a:lvl2pPr marL="0" indent="457200">
              <a:spcBef>
                <a:spcPts val="6000"/>
              </a:spcBef>
              <a:buSzTx/>
              <a:buNone/>
              <a:defRPr sz="5000"/>
            </a:lvl2pPr>
            <a:lvl3pPr marL="0" indent="914400">
              <a:spcBef>
                <a:spcPts val="6000"/>
              </a:spcBef>
              <a:buSzTx/>
              <a:buNone/>
              <a:defRPr sz="5000"/>
            </a:lvl3pPr>
            <a:lvl4pPr marL="0" indent="1371600">
              <a:spcBef>
                <a:spcPts val="6000"/>
              </a:spcBef>
              <a:buSzTx/>
              <a:buNone/>
              <a:defRPr sz="5000"/>
            </a:lvl4pPr>
            <a:lvl5pPr marL="0" indent="1828800">
              <a:spcBef>
                <a:spcPts val="6000"/>
              </a:spcBef>
              <a:buSzTx/>
              <a:buNone/>
              <a:defRPr sz="5000"/>
            </a:lvl5pPr>
          </a:lstStyle>
          <a:p>
            <a:pPr/>
            <a:r>
              <a:t>Agenda Topics</a:t>
            </a:r>
          </a:p>
          <a:p>
            <a:pPr lvl="1"/>
            <a:r>
              <a:t/>
            </a:r>
          </a:p>
          <a:p>
            <a:pPr lvl="2"/>
            <a:r>
              <a:t/>
            </a:r>
          </a:p>
          <a:p>
            <a:pPr lvl="3"/>
            <a:r>
              <a:t/>
            </a:r>
          </a:p>
          <a:p>
            <a:pPr lvl="4"/>
            <a:r>
              <a:t/>
            </a:r>
          </a:p>
        </p:txBody>
      </p:sp>
      <p:sp>
        <p:nvSpPr>
          <p:cNvPr id="110" name="Agenda Title"/>
          <p:cNvSpPr txBox="1"/>
          <p:nvPr>
            <p:ph type="title" hasCustomPrompt="1"/>
          </p:nvPr>
        </p:nvSpPr>
        <p:spPr>
          <a:prstGeom prst="rect">
            <a:avLst/>
          </a:prstGeom>
        </p:spPr>
        <p:txBody>
          <a:bodyPr/>
          <a:lstStyle/>
          <a:p>
            <a:pPr/>
            <a:r>
              <a:t>Agenda Title</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191000"/>
            <a:ext cx="21971000" cy="4089400"/>
          </a:xfrm>
          <a:prstGeom prst="rect">
            <a:avLst/>
          </a:prstGeom>
        </p:spPr>
        <p:txBody>
          <a:bodyPr anchor="ctr"/>
          <a:lstStyle>
            <a:lvl1pPr marL="0" indent="0" algn="ctr" defTabSz="2438400">
              <a:lnSpc>
                <a:spcPct val="90000"/>
              </a:lnSpc>
              <a:spcBef>
                <a:spcPts val="0"/>
              </a:spcBef>
              <a:buSzTx/>
              <a:buNone/>
              <a:defRPr spc="-119" sz="12000">
                <a:latin typeface="+mn-lt"/>
                <a:ea typeface="+mn-ea"/>
                <a:cs typeface="+mn-cs"/>
                <a:sym typeface="Produkt Extralight"/>
              </a:defRPr>
            </a:lvl1pPr>
            <a:lvl2pPr marL="0" indent="457200" algn="ctr" defTabSz="2438400">
              <a:lnSpc>
                <a:spcPct val="90000"/>
              </a:lnSpc>
              <a:spcBef>
                <a:spcPts val="0"/>
              </a:spcBef>
              <a:buSzTx/>
              <a:buNone/>
              <a:defRPr spc="-119" sz="12000">
                <a:latin typeface="+mn-lt"/>
                <a:ea typeface="+mn-ea"/>
                <a:cs typeface="+mn-cs"/>
                <a:sym typeface="Produkt Extralight"/>
              </a:defRPr>
            </a:lvl2pPr>
            <a:lvl3pPr marL="0" indent="914400" algn="ctr" defTabSz="2438400">
              <a:lnSpc>
                <a:spcPct val="90000"/>
              </a:lnSpc>
              <a:spcBef>
                <a:spcPts val="0"/>
              </a:spcBef>
              <a:buSzTx/>
              <a:buNone/>
              <a:defRPr spc="-119" sz="12000">
                <a:latin typeface="+mn-lt"/>
                <a:ea typeface="+mn-ea"/>
                <a:cs typeface="+mn-cs"/>
                <a:sym typeface="Produkt Extralight"/>
              </a:defRPr>
            </a:lvl3pPr>
            <a:lvl4pPr marL="0" indent="1371600" algn="ctr" defTabSz="2438400">
              <a:lnSpc>
                <a:spcPct val="90000"/>
              </a:lnSpc>
              <a:spcBef>
                <a:spcPts val="0"/>
              </a:spcBef>
              <a:buSzTx/>
              <a:buNone/>
              <a:defRPr spc="-119" sz="12000">
                <a:latin typeface="+mn-lt"/>
                <a:ea typeface="+mn-ea"/>
                <a:cs typeface="+mn-cs"/>
                <a:sym typeface="Produkt Extralight"/>
              </a:defRPr>
            </a:lvl4pPr>
            <a:lvl5pPr marL="0" indent="1828800" algn="ctr" defTabSz="2438400">
              <a:lnSpc>
                <a:spcPct val="90000"/>
              </a:lnSpc>
              <a:spcBef>
                <a:spcPts val="0"/>
              </a:spcBef>
              <a:buSzTx/>
              <a:buNone/>
              <a:defRPr spc="-119" sz="12000">
                <a:latin typeface="+mn-lt"/>
                <a:ea typeface="+mn-ea"/>
                <a:cs typeface="+mn-cs"/>
                <a:sym typeface="Produkt Extralight"/>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206500"/>
            <a:ext cx="21971000" cy="7353300"/>
          </a:xfrm>
          <a:prstGeom prst="rect">
            <a:avLst/>
          </a:prstGeom>
        </p:spPr>
        <p:txBody>
          <a:bodyPr anchor="b"/>
          <a:lstStyle>
            <a:lvl1pPr marL="0" indent="0" algn="ctr" defTabSz="2438400">
              <a:lnSpc>
                <a:spcPct val="90000"/>
              </a:lnSpc>
              <a:spcBef>
                <a:spcPts val="0"/>
              </a:spcBef>
              <a:buSzTx/>
              <a:buNone/>
              <a:defRPr spc="-1750" sz="35000">
                <a:latin typeface="+mn-lt"/>
                <a:ea typeface="+mn-ea"/>
                <a:cs typeface="+mn-cs"/>
                <a:sym typeface="Produkt Extralight"/>
              </a:defRPr>
            </a:lvl1pPr>
            <a:lvl2pPr marL="0" indent="457200" algn="ctr" defTabSz="2438400">
              <a:lnSpc>
                <a:spcPct val="90000"/>
              </a:lnSpc>
              <a:spcBef>
                <a:spcPts val="0"/>
              </a:spcBef>
              <a:buSzTx/>
              <a:buNone/>
              <a:defRPr spc="-1750" sz="35000">
                <a:latin typeface="+mn-lt"/>
                <a:ea typeface="+mn-ea"/>
                <a:cs typeface="+mn-cs"/>
                <a:sym typeface="Produkt Extralight"/>
              </a:defRPr>
            </a:lvl2pPr>
            <a:lvl3pPr marL="0" indent="914400" algn="ctr" defTabSz="2438400">
              <a:lnSpc>
                <a:spcPct val="90000"/>
              </a:lnSpc>
              <a:spcBef>
                <a:spcPts val="0"/>
              </a:spcBef>
              <a:buSzTx/>
              <a:buNone/>
              <a:defRPr spc="-1750" sz="35000">
                <a:latin typeface="+mn-lt"/>
                <a:ea typeface="+mn-ea"/>
                <a:cs typeface="+mn-cs"/>
                <a:sym typeface="Produkt Extralight"/>
              </a:defRPr>
            </a:lvl3pPr>
            <a:lvl4pPr marL="0" indent="1371600" algn="ctr" defTabSz="2438400">
              <a:lnSpc>
                <a:spcPct val="90000"/>
              </a:lnSpc>
              <a:spcBef>
                <a:spcPts val="0"/>
              </a:spcBef>
              <a:buSzTx/>
              <a:buNone/>
              <a:defRPr spc="-1750" sz="35000">
                <a:latin typeface="+mn-lt"/>
                <a:ea typeface="+mn-ea"/>
                <a:cs typeface="+mn-cs"/>
                <a:sym typeface="Produkt Extralight"/>
              </a:defRPr>
            </a:lvl4pPr>
            <a:lvl5pPr marL="0" indent="1828800" algn="ctr" defTabSz="2438400">
              <a:lnSpc>
                <a:spcPct val="90000"/>
              </a:lnSpc>
              <a:spcBef>
                <a:spcPts val="0"/>
              </a:spcBef>
              <a:buSzTx/>
              <a:buNone/>
              <a:defRPr spc="-1750" sz="35000">
                <a:latin typeface="+mn-lt"/>
                <a:ea typeface="+mn-ea"/>
                <a:cs typeface="+mn-cs"/>
                <a:sym typeface="Produkt Extralight"/>
              </a:defRPr>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128000"/>
            <a:ext cx="21971000" cy="1079500"/>
          </a:xfrm>
          <a:prstGeom prst="rect">
            <a:avLst/>
          </a:prstGeom>
        </p:spPr>
        <p:txBody>
          <a:bodyPr lIns="45719" tIns="45719" rIns="45719" bIns="45719"/>
          <a:lstStyle>
            <a:lvl1pPr marL="0" indent="0" algn="ctr" defTabSz="825500">
              <a:lnSpc>
                <a:spcPct val="90000"/>
              </a:lnSpc>
              <a:spcBef>
                <a:spcPts val="0"/>
              </a:spcBef>
              <a:buSzTx/>
              <a:buNone/>
              <a:defRPr spc="-55" sz="5500">
                <a:latin typeface="+mn-lt"/>
                <a:ea typeface="+mn-ea"/>
                <a:cs typeface="+mn-cs"/>
                <a:sym typeface="Produkt Extralight"/>
              </a:defRPr>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5461000" y="9563100"/>
            <a:ext cx="13728700" cy="698500"/>
          </a:xfrm>
          <a:prstGeom prst="rect">
            <a:avLst/>
          </a:prstGeom>
        </p:spPr>
        <p:txBody>
          <a:bodyPr lIns="45719" tIns="45719" rIns="45719" bIns="45719"/>
          <a:lstStyle>
            <a:lvl1pPr marL="0" indent="0" defTabSz="825500">
              <a:spcBef>
                <a:spcPts val="0"/>
              </a:spcBef>
              <a:buSzTx/>
              <a:buNone/>
              <a:defRPr sz="3600">
                <a:latin typeface="Produkt Light"/>
                <a:ea typeface="Produkt Light"/>
                <a:cs typeface="Produkt Light"/>
                <a:sym typeface="Produkt Light"/>
              </a:defRPr>
            </a:lvl1pPr>
          </a:lstStyle>
          <a:p>
            <a:pPr/>
            <a:r>
              <a:t>Attribution</a:t>
            </a:r>
          </a:p>
        </p:txBody>
      </p:sp>
      <p:sp>
        <p:nvSpPr>
          <p:cNvPr id="136" name="Body Level One…"/>
          <p:cNvSpPr txBox="1"/>
          <p:nvPr>
            <p:ph type="body" sz="quarter" idx="1" hasCustomPrompt="1"/>
          </p:nvPr>
        </p:nvSpPr>
        <p:spPr>
          <a:xfrm>
            <a:off x="5194300" y="4165600"/>
            <a:ext cx="13995400" cy="4432300"/>
          </a:xfrm>
          <a:prstGeom prst="rect">
            <a:avLst/>
          </a:prstGeom>
        </p:spPr>
        <p:txBody>
          <a:bodyPr anchor="b"/>
          <a:lstStyle>
            <a:lvl1pPr marL="254000" indent="-254000" defTabSz="2438400">
              <a:lnSpc>
                <a:spcPct val="90000"/>
              </a:lnSpc>
              <a:spcBef>
                <a:spcPts val="0"/>
              </a:spcBef>
              <a:buSzTx/>
              <a:buNone/>
              <a:defRPr spc="-93" sz="9300">
                <a:latin typeface="+mn-lt"/>
                <a:ea typeface="+mn-ea"/>
                <a:cs typeface="+mn-cs"/>
                <a:sym typeface="Produkt Extralight"/>
              </a:defRPr>
            </a:lvl1pPr>
            <a:lvl2pPr marL="254000" indent="203200" defTabSz="2438400">
              <a:lnSpc>
                <a:spcPct val="90000"/>
              </a:lnSpc>
              <a:spcBef>
                <a:spcPts val="0"/>
              </a:spcBef>
              <a:buSzTx/>
              <a:buNone/>
              <a:defRPr spc="-93" sz="9300">
                <a:latin typeface="+mn-lt"/>
                <a:ea typeface="+mn-ea"/>
                <a:cs typeface="+mn-cs"/>
                <a:sym typeface="Produkt Extralight"/>
              </a:defRPr>
            </a:lvl2pPr>
            <a:lvl3pPr marL="254000" indent="660400" defTabSz="2438400">
              <a:lnSpc>
                <a:spcPct val="90000"/>
              </a:lnSpc>
              <a:spcBef>
                <a:spcPts val="0"/>
              </a:spcBef>
              <a:buSzTx/>
              <a:buNone/>
              <a:defRPr spc="-93" sz="9300">
                <a:latin typeface="+mn-lt"/>
                <a:ea typeface="+mn-ea"/>
                <a:cs typeface="+mn-cs"/>
                <a:sym typeface="Produkt Extralight"/>
              </a:defRPr>
            </a:lvl3pPr>
            <a:lvl4pPr marL="254000" indent="1117600" defTabSz="2438400">
              <a:lnSpc>
                <a:spcPct val="90000"/>
              </a:lnSpc>
              <a:spcBef>
                <a:spcPts val="0"/>
              </a:spcBef>
              <a:buSzTx/>
              <a:buNone/>
              <a:defRPr spc="-93" sz="9300">
                <a:latin typeface="+mn-lt"/>
                <a:ea typeface="+mn-ea"/>
                <a:cs typeface="+mn-cs"/>
                <a:sym typeface="Produkt Extralight"/>
              </a:defRPr>
            </a:lvl4pPr>
            <a:lvl5pPr marL="254000" indent="1574800" defTabSz="2438400">
              <a:lnSpc>
                <a:spcPct val="90000"/>
              </a:lnSpc>
              <a:spcBef>
                <a:spcPts val="0"/>
              </a:spcBef>
              <a:buSzTx/>
              <a:buNone/>
              <a:defRPr spc="-93" sz="9300">
                <a:latin typeface="+mn-lt"/>
                <a:ea typeface="+mn-ea"/>
                <a:cs typeface="+mn-cs"/>
                <a:sym typeface="Produkt Extralight"/>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Close-up of a curved, white, layered pattern"/>
          <p:cNvSpPr/>
          <p:nvPr>
            <p:ph type="pic" sz="quarter" idx="21"/>
          </p:nvPr>
        </p:nvSpPr>
        <p:spPr>
          <a:xfrm>
            <a:off x="1257300" y="3213100"/>
            <a:ext cx="7289800" cy="7289800"/>
          </a:xfrm>
          <a:prstGeom prst="rect">
            <a:avLst/>
          </a:prstGeom>
        </p:spPr>
        <p:txBody>
          <a:bodyPr lIns="91439" tIns="45719" rIns="91439" bIns="45719">
            <a:noAutofit/>
          </a:bodyPr>
          <a:lstStyle/>
          <a:p>
            <a:pPr/>
          </a:p>
        </p:txBody>
      </p:sp>
      <p:sp>
        <p:nvSpPr>
          <p:cNvPr id="145" name="Close-up of a layered pattern of gray stone"/>
          <p:cNvSpPr/>
          <p:nvPr>
            <p:ph type="pic" sz="quarter" idx="22"/>
          </p:nvPr>
        </p:nvSpPr>
        <p:spPr>
          <a:xfrm>
            <a:off x="7353300" y="3632200"/>
            <a:ext cx="9677400" cy="6451600"/>
          </a:xfrm>
          <a:prstGeom prst="rect">
            <a:avLst/>
          </a:prstGeom>
        </p:spPr>
        <p:txBody>
          <a:bodyPr lIns="91439" tIns="45719" rIns="91439" bIns="45719">
            <a:noAutofit/>
          </a:bodyPr>
          <a:lstStyle/>
          <a:p>
            <a:pPr/>
          </a:p>
        </p:txBody>
      </p:sp>
      <p:sp>
        <p:nvSpPr>
          <p:cNvPr id="146" name="Close-up of a white ribbed pattern"/>
          <p:cNvSpPr/>
          <p:nvPr>
            <p:ph type="pic" sz="quarter" idx="23"/>
          </p:nvPr>
        </p:nvSpPr>
        <p:spPr>
          <a:xfrm>
            <a:off x="14621933" y="3632200"/>
            <a:ext cx="9677401" cy="645725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Angular, futuristic, white corridor with shadows"/>
          <p:cNvSpPr/>
          <p:nvPr>
            <p:ph type="pic" idx="21"/>
          </p:nvPr>
        </p:nvSpPr>
        <p:spPr>
          <a:xfrm>
            <a:off x="0" y="-1270000"/>
            <a:ext cx="24384000" cy="1625600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635000"/>
            <a:ext cx="21971000" cy="16891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23558499" y="12458699"/>
            <a:ext cx="388621" cy="429261"/>
          </a:xfrm>
          <a:prstGeom prst="rect">
            <a:avLst/>
          </a:prstGeom>
          <a:ln w="12700">
            <a:miter lim="400000"/>
          </a:ln>
        </p:spPr>
        <p:txBody>
          <a:bodyPr wrap="none" lIns="50800" tIns="50800" rIns="50800" bIns="50800" anchor="b">
            <a:spAutoFit/>
          </a:bodyPr>
          <a:lstStyle>
            <a:lvl1pPr algn="r" defTabSz="584200">
              <a:spcBef>
                <a:spcPts val="0"/>
              </a:spcBef>
              <a:defRPr sz="2000">
                <a:latin typeface="Graphik"/>
                <a:ea typeface="Graphik"/>
                <a:cs typeface="Graphik"/>
                <a:sym typeface="Graphik"/>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1pPr>
      <a:lvl2pPr marL="0" marR="0" indent="4572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2pPr>
      <a:lvl3pPr marL="0" marR="0" indent="9144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3pPr>
      <a:lvl4pPr marL="0" marR="0" indent="13716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4pPr>
      <a:lvl5pPr marL="0" marR="0" indent="18288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5pPr>
      <a:lvl6pPr marL="0" marR="0" indent="22860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6pPr>
      <a:lvl7pPr marL="0" marR="0" indent="27432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7pPr>
      <a:lvl8pPr marL="0" marR="0" indent="32004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8pPr>
      <a:lvl9pPr marL="0" marR="0" indent="36576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9pPr>
    </p:titleStyle>
    <p:bodyStyle>
      <a:lvl1pPr marL="4572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1pPr>
      <a:lvl2pPr marL="9144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2pPr>
      <a:lvl3pPr marL="13716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3pPr>
      <a:lvl4pPr marL="18288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4pPr>
      <a:lvl5pPr marL="22860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5pPr>
      <a:lvl6pPr marL="27432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6pPr>
      <a:lvl7pPr marL="32004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7pPr>
      <a:lvl8pPr marL="36576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8pPr>
      <a:lvl9pPr marL="41148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9pPr>
    </p:bodyStyle>
    <p:otherStyle>
      <a:lvl1pPr marL="0" marR="0" indent="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1pPr>
      <a:lvl2pPr marL="0" marR="0" indent="4572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2pPr>
      <a:lvl3pPr marL="0" marR="0" indent="9144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3pPr>
      <a:lvl4pPr marL="0" marR="0" indent="13716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4pPr>
      <a:lvl5pPr marL="0" marR="0" indent="18288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5pPr>
      <a:lvl6pPr marL="0" marR="0" indent="22860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6pPr>
      <a:lvl7pPr marL="0" marR="0" indent="27432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7pPr>
      <a:lvl8pPr marL="0" marR="0" indent="32004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8pPr>
      <a:lvl9pPr marL="0" marR="0" indent="36576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github/spec-kit" TargetMode="External"/><Relationship Id="rId3" Type="http://schemas.openxmlformats.org/officeDocument/2006/relationships/hyperlink" Target="https://www.youtube.com/watch?v=a9eR1xsfvHg" TargetMode="External"/><Relationship Id="rId4" Type="http://schemas.openxmlformats.org/officeDocument/2006/relationships/hyperlink" Target="https://www.youtube.com/watch?v=SGHIQTsPzuY" TargetMode="External"/><Relationship Id="rId5" Type="http://schemas.openxmlformats.org/officeDocument/2006/relationships/hyperlink" Target="https://www.youtube.com/watch?v=8jtIXRyGMQU" TargetMode="External"/><Relationship Id="rId6" Type="http://schemas.openxmlformats.org/officeDocument/2006/relationships/hyperlink" Target="https://docs.windsurf.com/windsurf/cascade/workflows" TargetMode="Externa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Amit; Nov 26th, 2025"/>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Amit; Nov 26th, 2025</a:t>
            </a:r>
          </a:p>
        </p:txBody>
      </p:sp>
      <p:sp>
        <p:nvSpPr>
          <p:cNvPr id="172" name="My notes on using spec kit on a Greenfield project"/>
          <p:cNvSpPr txBox="1"/>
          <p:nvPr>
            <p:ph type="subTitle" sz="quarter" idx="1"/>
          </p:nvPr>
        </p:nvSpPr>
        <p:spPr>
          <a:prstGeom prst="rect">
            <a:avLst/>
          </a:prstGeom>
        </p:spPr>
        <p:txBody>
          <a:bodyPr/>
          <a:lstStyle/>
          <a:p>
            <a:pPr/>
            <a:r>
              <a:t>My notes on using spec kit on a Greenfield project</a:t>
            </a:r>
          </a:p>
        </p:txBody>
      </p:sp>
      <p:sp>
        <p:nvSpPr>
          <p:cNvPr id="173" name="Windsurf + Spec Kit"/>
          <p:cNvSpPr txBox="1"/>
          <p:nvPr>
            <p:ph type="ctrTitle"/>
          </p:nvPr>
        </p:nvSpPr>
        <p:spPr>
          <a:prstGeom prst="rect">
            <a:avLst/>
          </a:prstGeom>
        </p:spPr>
        <p:txBody>
          <a:bodyPr/>
          <a:lstStyle/>
          <a:p>
            <a:pPr/>
            <a:r>
              <a:t>Windsurf + Spec Kit</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What is spec-kit and how is it used?"/>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What is spec-kit and how is it used?</a:t>
            </a:r>
          </a:p>
        </p:txBody>
      </p:sp>
      <p:sp>
        <p:nvSpPr>
          <p:cNvPr id="176" name="About Spec Kit"/>
          <p:cNvSpPr txBox="1"/>
          <p:nvPr>
            <p:ph type="title"/>
          </p:nvPr>
        </p:nvSpPr>
        <p:spPr>
          <a:prstGeom prst="rect">
            <a:avLst/>
          </a:prstGeom>
        </p:spPr>
        <p:txBody>
          <a:bodyPr/>
          <a:lstStyle>
            <a:lvl1pPr defTabSz="2316479">
              <a:defRPr spc="-95" sz="9500"/>
            </a:lvl1pPr>
          </a:lstStyle>
          <a:p>
            <a:pPr/>
            <a:r>
              <a:t>About Spec Kit</a:t>
            </a:r>
          </a:p>
        </p:txBody>
      </p:sp>
      <p:sp>
        <p:nvSpPr>
          <p:cNvPr id="177" name="All AI Tools, even code assistants, need prompts…"/>
          <p:cNvSpPr txBox="1"/>
          <p:nvPr>
            <p:ph type="body" idx="1"/>
          </p:nvPr>
        </p:nvSpPr>
        <p:spPr>
          <a:xfrm>
            <a:off x="1206500" y="3856793"/>
            <a:ext cx="21971000" cy="8256012"/>
          </a:xfrm>
          <a:prstGeom prst="rect">
            <a:avLst/>
          </a:prstGeom>
        </p:spPr>
        <p:txBody>
          <a:bodyPr/>
          <a:lstStyle/>
          <a:p>
            <a:pPr indent="-317500" defTabSz="457200">
              <a:lnSpc>
                <a:spcPct val="150000"/>
              </a:lnSpc>
              <a:spcBef>
                <a:spcPts val="0"/>
              </a:spcBef>
              <a:buFont typeface="Times Roman"/>
              <a:defRPr sz="2200">
                <a:latin typeface="Verdana"/>
                <a:ea typeface="Verdana"/>
                <a:cs typeface="Verdana"/>
                <a:sym typeface="Verdana"/>
              </a:defRPr>
            </a:pPr>
            <a:r>
              <a:t>All AI Tools, even code assistants, need prompts</a:t>
            </a:r>
          </a:p>
          <a:p>
            <a:pPr indent="-317500" defTabSz="457200">
              <a:lnSpc>
                <a:spcPct val="150000"/>
              </a:lnSpc>
              <a:spcBef>
                <a:spcPts val="0"/>
              </a:spcBef>
              <a:buFont typeface="Times Roman"/>
              <a:defRPr sz="2200">
                <a:latin typeface="Verdana"/>
                <a:ea typeface="Verdana"/>
                <a:cs typeface="Verdana"/>
                <a:sym typeface="Verdana"/>
              </a:defRPr>
            </a:pPr>
            <a:r>
              <a:t>to arrive at repeatable prompts that are time-tested/ refined, we develop prompts and capture them into "Prompt Libraries" for our AI Tools to use.</a:t>
            </a:r>
          </a:p>
          <a:p>
            <a:pPr indent="-317500" defTabSz="457200">
              <a:lnSpc>
                <a:spcPct val="150000"/>
              </a:lnSpc>
              <a:spcBef>
                <a:spcPts val="0"/>
              </a:spcBef>
              <a:buFont typeface="Times Roman"/>
              <a:defRPr sz="2200">
                <a:latin typeface="Verdana"/>
                <a:ea typeface="Verdana"/>
                <a:cs typeface="Verdana"/>
                <a:sym typeface="Verdana"/>
              </a:defRPr>
            </a:pPr>
            <a:r>
              <a:t>in software development, this concept has evolved further into Specification-Driven-Development. there are a few key-players:: OpenSpec and SpecKit</a:t>
            </a:r>
          </a:p>
          <a:p>
            <a:pPr indent="-317500" defTabSz="457200">
              <a:lnSpc>
                <a:spcPct val="150000"/>
              </a:lnSpc>
              <a:spcBef>
                <a:spcPts val="0"/>
              </a:spcBef>
              <a:buFont typeface="Times Roman"/>
              <a:defRPr sz="2200">
                <a:latin typeface="Verdana"/>
                <a:ea typeface="Verdana"/>
                <a:cs typeface="Verdana"/>
                <a:sym typeface="Verdana"/>
              </a:defRPr>
            </a:pPr>
            <a:r>
              <a:t>GitHub has launched Spec Kit; its open source; gives very good guidelines which we all can use and extend</a:t>
            </a:r>
          </a:p>
          <a:p>
            <a:pPr indent="-317500" defTabSz="457200">
              <a:lnSpc>
                <a:spcPct val="150000"/>
              </a:lnSpc>
              <a:spcBef>
                <a:spcPts val="0"/>
              </a:spcBef>
              <a:buFont typeface="Times Roman"/>
              <a:defRPr sz="2200">
                <a:latin typeface="Verdana"/>
                <a:ea typeface="Verdana"/>
                <a:cs typeface="Verdana"/>
                <a:sym typeface="Verdana"/>
              </a:defRPr>
            </a:pPr>
            <a:r>
              <a:t>Spec Kit comes with python helper scripts which you can use to add these templates into your project. Spec Kit supports several AI Code Assistants, (personally i am using Windsurf)</a:t>
            </a:r>
          </a:p>
          <a:p>
            <a:pPr indent="-317500" defTabSz="457200">
              <a:lnSpc>
                <a:spcPct val="150000"/>
              </a:lnSpc>
              <a:spcBef>
                <a:spcPts val="0"/>
              </a:spcBef>
              <a:buFont typeface="Times Roman"/>
              <a:defRPr sz="2200">
                <a:latin typeface="Verdana"/>
                <a:ea typeface="Verdana"/>
                <a:cs typeface="Verdana"/>
                <a:sym typeface="Verdana"/>
              </a:defRPr>
            </a:pPr>
            <a:r>
              <a:t>one way of setting up your project, is to use UV package manager and Speckits command line interface</a:t>
            </a:r>
          </a:p>
          <a:p>
            <a:pPr indent="-317500" defTabSz="457200">
              <a:lnSpc>
                <a:spcPct val="150000"/>
              </a:lnSpc>
              <a:spcBef>
                <a:spcPts val="0"/>
              </a:spcBef>
              <a:buFont typeface="Times Roman"/>
              <a:defRPr sz="2200">
                <a:latin typeface="Verdana"/>
                <a:ea typeface="Verdana"/>
                <a:cs typeface="Verdana"/>
                <a:sym typeface="Verdana"/>
              </a:defRPr>
            </a:pPr>
            <a:r>
              <a:t>alternate way is to download the zip-file of templates/scripts and unzip into your project</a:t>
            </a:r>
          </a:p>
          <a:p>
            <a:pPr indent="-317500" defTabSz="457200">
              <a:lnSpc>
                <a:spcPct val="150000"/>
              </a:lnSpc>
              <a:spcBef>
                <a:spcPts val="0"/>
              </a:spcBef>
              <a:buFont typeface="Times Roman"/>
              <a:defRPr sz="2200">
                <a:latin typeface="Verdana"/>
                <a:ea typeface="Verdana"/>
                <a:cs typeface="Verdana"/>
                <a:sym typeface="Verdana"/>
              </a:defRPr>
            </a:pPr>
            <a:r>
              <a:t>once you have speckit activated in the project, you can use slash-commands with Coding Assistants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Handy links to documentation, explana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Handy links to documentation, explanation </a:t>
            </a:r>
          </a:p>
        </p:txBody>
      </p:sp>
      <p:sp>
        <p:nvSpPr>
          <p:cNvPr id="180" name="References"/>
          <p:cNvSpPr txBox="1"/>
          <p:nvPr>
            <p:ph type="title"/>
          </p:nvPr>
        </p:nvSpPr>
        <p:spPr>
          <a:prstGeom prst="rect">
            <a:avLst/>
          </a:prstGeom>
        </p:spPr>
        <p:txBody>
          <a:bodyPr/>
          <a:lstStyle>
            <a:lvl1pPr defTabSz="2316479">
              <a:defRPr spc="-95" sz="9500"/>
            </a:lvl1pPr>
          </a:lstStyle>
          <a:p>
            <a:pPr/>
            <a:r>
              <a:t>References</a:t>
            </a:r>
          </a:p>
        </p:txBody>
      </p:sp>
      <p:sp>
        <p:nvSpPr>
          <p:cNvPr id="181" name="From the creators:…"/>
          <p:cNvSpPr txBox="1"/>
          <p:nvPr>
            <p:ph type="body" idx="1"/>
          </p:nvPr>
        </p:nvSpPr>
        <p:spPr>
          <a:prstGeom prst="rect">
            <a:avLst/>
          </a:prstGeom>
        </p:spPr>
        <p:txBody>
          <a:bodyPr/>
          <a:lstStyle/>
          <a:p>
            <a:pPr marL="393192" indent="-393192" defTabSz="305815">
              <a:spcBef>
                <a:spcPts val="4000"/>
              </a:spcBef>
              <a:defRPr sz="3440"/>
            </a:pPr>
            <a:r>
              <a:t>From the creators:</a:t>
            </a:r>
          </a:p>
          <a:p>
            <a:pPr lvl="1" marL="786384" indent="-393192" defTabSz="305815">
              <a:spcBef>
                <a:spcPts val="4000"/>
              </a:spcBef>
              <a:defRPr sz="2580"/>
            </a:pPr>
            <a:r>
              <a:rPr u="sng">
                <a:hlinkClick r:id="rId2" invalidUrl="" action="" tgtFrame="" tooltip="" history="1" highlightClick="0" endSnd="0"/>
              </a:rPr>
              <a:t>https://github.com/github/spec-kit</a:t>
            </a:r>
            <a:r>
              <a:t> </a:t>
            </a:r>
          </a:p>
          <a:p>
            <a:pPr marL="393192" indent="-393192" defTabSz="305815">
              <a:spcBef>
                <a:spcPts val="4000"/>
              </a:spcBef>
              <a:defRPr sz="3440"/>
            </a:pPr>
            <a:r>
              <a:t>Youtube videos:</a:t>
            </a:r>
          </a:p>
          <a:p>
            <a:pPr lvl="1" marL="786384" indent="-393192" defTabSz="305815">
              <a:spcBef>
                <a:spcPts val="4000"/>
              </a:spcBef>
              <a:defRPr sz="2580"/>
            </a:pPr>
            <a:r>
              <a:rPr u="sng">
                <a:hlinkClick r:id="rId3" invalidUrl="" action="" tgtFrame="" tooltip="" history="1" highlightClick="0" endSnd="0"/>
              </a:rPr>
              <a:t>https://www.youtube.com/watch?v=a9eR1xsfvHg</a:t>
            </a:r>
            <a:r>
              <a:t>. ; </a:t>
            </a:r>
            <a:r>
              <a:rPr u="sng">
                <a:hlinkClick r:id="rId4" invalidUrl="" action="" tgtFrame="" tooltip="" history="1" highlightClick="0" endSnd="0"/>
              </a:rPr>
              <a:t>https://www.youtube.com/watch?v=SGHIQTsPzuY</a:t>
            </a:r>
            <a:r>
              <a:t>. ; </a:t>
            </a:r>
            <a:r>
              <a:rPr u="sng">
                <a:hlinkClick r:id="rId5" invalidUrl="" action="" tgtFrame="" tooltip="" history="1" highlightClick="0" endSnd="0"/>
              </a:rPr>
              <a:t>https://www.youtube.com/watch?v=8jtIXRyGMQU</a:t>
            </a:r>
            <a:r>
              <a:t> </a:t>
            </a:r>
          </a:p>
          <a:p>
            <a:pPr marL="393192" indent="-393192" defTabSz="305815">
              <a:spcBef>
                <a:spcPts val="4000"/>
              </a:spcBef>
              <a:defRPr sz="3440"/>
            </a:pPr>
            <a:r>
              <a:t>Windsurf links:</a:t>
            </a:r>
          </a:p>
          <a:p>
            <a:pPr lvl="1" marL="786384" indent="-393192" defTabSz="305815">
              <a:spcBef>
                <a:spcPts val="4000"/>
              </a:spcBef>
              <a:defRPr sz="2580"/>
            </a:pPr>
            <a:r>
              <a:rPr u="sng">
                <a:hlinkClick r:id="rId6" invalidUrl="" action="" tgtFrame="" tooltip="" history="1" highlightClick="0" endSnd="0"/>
              </a:rPr>
              <a:t>https://docs.windsurf.com/windsurf/cascade/workflows</a:t>
            </a:r>
          </a:p>
          <a:p>
            <a:pPr marL="393192" indent="-393192" defTabSz="305815">
              <a:spcBef>
                <a:spcPts val="4000"/>
              </a:spcBef>
              <a:defRPr sz="3440"/>
            </a:pPr>
            <a:r>
              <a:t>Similar alternative </a:t>
            </a:r>
          </a:p>
          <a:p>
            <a:pPr lvl="1" marL="786384" indent="-393192" defTabSz="305815">
              <a:spcBef>
                <a:spcPts val="4000"/>
              </a:spcBef>
              <a:defRPr sz="2580"/>
            </a:pPr>
            <a:r>
              <a:t>https://github.com/Fission-AI/OpenSpec</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 name="Two similar toolkit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Two similar toolkits</a:t>
            </a:r>
          </a:p>
        </p:txBody>
      </p:sp>
      <p:sp>
        <p:nvSpPr>
          <p:cNvPr id="184" name="Comparing with OpenSpec"/>
          <p:cNvSpPr txBox="1"/>
          <p:nvPr>
            <p:ph type="title"/>
          </p:nvPr>
        </p:nvSpPr>
        <p:spPr>
          <a:prstGeom prst="rect">
            <a:avLst/>
          </a:prstGeom>
        </p:spPr>
        <p:txBody>
          <a:bodyPr/>
          <a:lstStyle>
            <a:lvl1pPr defTabSz="2316479">
              <a:defRPr spc="-95" sz="9500"/>
            </a:lvl1pPr>
          </a:lstStyle>
          <a:p>
            <a:pPr/>
            <a:r>
              <a:t>Comparing with OpenSpec</a:t>
            </a:r>
          </a:p>
        </p:txBody>
      </p:sp>
      <p:graphicFrame>
        <p:nvGraphicFramePr>
          <p:cNvPr id="185" name="Table 1"/>
          <p:cNvGraphicFramePr/>
          <p:nvPr/>
        </p:nvGraphicFramePr>
        <p:xfrm>
          <a:off x="1917547" y="3988370"/>
          <a:ext cx="20561606" cy="7891205"/>
        </p:xfrm>
        <a:graphic xmlns:a="http://schemas.openxmlformats.org/drawingml/2006/main">
          <a:graphicData uri="http://schemas.openxmlformats.org/drawingml/2006/table">
            <a:tbl>
              <a:tblPr firstCol="1" firstRow="1" lastCol="0" lastRow="0" bandCol="0" bandRow="0" rtl="0">
                <a:tableStyleId>{4C3C2611-4C71-4FC5-86AE-919BDF0F9419}</a:tableStyleId>
              </a:tblPr>
              <a:tblGrid>
                <a:gridCol w="6849635"/>
                <a:gridCol w="6849635"/>
                <a:gridCol w="6849635"/>
              </a:tblGrid>
              <a:tr h="1125500">
                <a:tc>
                  <a:txBody>
                    <a:bodyPr/>
                    <a:lstStyle/>
                    <a:p>
                      <a:pPr algn="ctr" defTabSz="914400">
                        <a:defRPr b="0" sz="1800"/>
                      </a:pPr>
                      <a:r>
                        <a:rPr sz="3200">
                          <a:sym typeface="Graphik Semibold"/>
                        </a:rPr>
                        <a:t>Aspect</a:t>
                      </a:r>
                    </a:p>
                  </a:txBody>
                  <a:tcPr marL="50800" marR="50800" marT="50800" marB="50800" anchor="ctr" anchorCtr="0" horzOverflow="overflow"/>
                </a:tc>
                <a:tc>
                  <a:txBody>
                    <a:bodyPr/>
                    <a:lstStyle/>
                    <a:p>
                      <a:pPr algn="ctr" defTabSz="914400">
                        <a:defRPr b="0" sz="1800"/>
                      </a:pPr>
                      <a:r>
                        <a:rPr sz="3200">
                          <a:sym typeface="Graphik Semibold"/>
                        </a:rPr>
                        <a:t>Speckit</a:t>
                      </a:r>
                    </a:p>
                  </a:txBody>
                  <a:tcPr marL="50800" marR="50800" marT="50800" marB="50800" anchor="ctr" anchorCtr="0" horzOverflow="overflow"/>
                </a:tc>
                <a:tc>
                  <a:txBody>
                    <a:bodyPr/>
                    <a:lstStyle/>
                    <a:p>
                      <a:pPr algn="ctr" defTabSz="914400">
                        <a:defRPr b="0" sz="1800"/>
                      </a:pPr>
                      <a:r>
                        <a:rPr sz="3200">
                          <a:sym typeface="Graphik Semibold"/>
                        </a:rPr>
                        <a:t>OpenSpec</a:t>
                      </a:r>
                    </a:p>
                  </a:txBody>
                  <a:tcPr marL="50800" marR="50800" marT="50800" marB="50800" anchor="ctr" anchorCtr="0" horzOverflow="overflow"/>
                </a:tc>
              </a:tr>
              <a:tr h="1125500">
                <a:tc>
                  <a:txBody>
                    <a:bodyPr/>
                    <a:lstStyle/>
                    <a:p>
                      <a:pPr algn="ctr" defTabSz="914400">
                        <a:defRPr b="0" sz="1800"/>
                      </a:pPr>
                      <a:r>
                        <a:rPr sz="3200">
                          <a:sym typeface="Graphik Semibold"/>
                        </a:rPr>
                        <a:t>Purpose and Focus</a:t>
                      </a:r>
                    </a:p>
                  </a:txBody>
                  <a:tcPr marL="50800" marR="50800" marT="50800" marB="50800" anchor="ctr" anchorCtr="0" horzOverflow="overflow"/>
                </a:tc>
                <a:tc>
                  <a:txBody>
                    <a:bodyPr/>
                    <a:lstStyle/>
                    <a:p>
                      <a:pPr algn="ctr" defTabSz="914400">
                        <a:defRPr sz="1800"/>
                      </a:pPr>
                      <a:r>
                        <a:rPr sz="3200"/>
                        <a:t>Framework for writing and managing specifications</a:t>
                      </a:r>
                    </a:p>
                  </a:txBody>
                  <a:tcPr marL="50800" marR="50800" marT="50800" marB="50800" anchor="ctr" anchorCtr="0" horzOverflow="overflow"/>
                </a:tc>
                <a:tc>
                  <a:txBody>
                    <a:bodyPr/>
                    <a:lstStyle/>
                    <a:p>
                      <a:pPr algn="ctr" defTabSz="914400">
                        <a:defRPr sz="1800"/>
                      </a:pPr>
                      <a:r>
                        <a:rPr sz="3200"/>
                        <a:t>Open-source collaboration for specification-driven development</a:t>
                      </a:r>
                    </a:p>
                  </a:txBody>
                  <a:tcPr marL="50800" marR="50800" marT="50800" marB="50800" anchor="ctr" anchorCtr="0" horzOverflow="overflow"/>
                </a:tc>
              </a:tr>
              <a:tr h="1125500">
                <a:tc>
                  <a:txBody>
                    <a:bodyPr/>
                    <a:lstStyle/>
                    <a:p>
                      <a:pPr algn="ctr" defTabSz="914400">
                        <a:defRPr b="0" sz="1800"/>
                      </a:pPr>
                      <a:r>
                        <a:rPr sz="3200">
                          <a:sym typeface="Graphik Semibold"/>
                        </a:rPr>
                        <a:t>Integration with AI</a:t>
                      </a:r>
                    </a:p>
                  </a:txBody>
                  <a:tcPr marL="50800" marR="50800" marT="50800" marB="50800" anchor="ctr" anchorCtr="0" horzOverflow="overflow"/>
                </a:tc>
                <a:tc>
                  <a:txBody>
                    <a:bodyPr/>
                    <a:lstStyle/>
                    <a:p>
                      <a:pPr algn="ctr" defTabSz="914400">
                        <a:defRPr sz="1800"/>
                      </a:pPr>
                      <a:r>
                        <a:rPr sz="3200"/>
                        <a:t>Direct integrations with AI coding assistants</a:t>
                      </a:r>
                    </a:p>
                  </a:txBody>
                  <a:tcPr marL="50800" marR="50800" marT="50800" marB="50800" anchor="ctr" anchorCtr="0" horzOverflow="overflow"/>
                </a:tc>
                <a:tc>
                  <a:txBody>
                    <a:bodyPr/>
                    <a:lstStyle/>
                    <a:p>
                      <a:pPr algn="ctr" defTabSz="914400">
                        <a:defRPr sz="1800"/>
                      </a:pPr>
                      <a:r>
                        <a:rPr sz="3200"/>
                        <a:t>Similar integrations</a:t>
                      </a:r>
                    </a:p>
                  </a:txBody>
                  <a:tcPr marL="50800" marR="50800" marT="50800" marB="50800" anchor="ctr" anchorCtr="0" horzOverflow="overflow"/>
                </a:tc>
              </a:tr>
              <a:tr h="1125500">
                <a:tc>
                  <a:txBody>
                    <a:bodyPr/>
                    <a:lstStyle/>
                    <a:p>
                      <a:pPr algn="ctr" defTabSz="914400">
                        <a:defRPr b="0" sz="1800"/>
                      </a:pPr>
                      <a:r>
                        <a:rPr sz="3200">
                          <a:sym typeface="Graphik Semibold"/>
                        </a:rPr>
                        <a:t>Usability</a:t>
                      </a:r>
                    </a:p>
                  </a:txBody>
                  <a:tcPr marL="50800" marR="50800" marT="50800" marB="50800" anchor="ctr" anchorCtr="0" horzOverflow="overflow"/>
                </a:tc>
                <a:tc>
                  <a:txBody>
                    <a:bodyPr/>
                    <a:lstStyle/>
                    <a:p>
                      <a:pPr algn="ctr" defTabSz="914400">
                        <a:defRPr sz="1800"/>
                      </a:pPr>
                      <a:r>
                        <a:rPr sz="3200"/>
                        <a:t>Polished user interface for enhanced productivity</a:t>
                      </a:r>
                    </a:p>
                  </a:txBody>
                  <a:tcPr marL="50800" marR="50800" marT="50800" marB="50800" anchor="ctr" anchorCtr="0" horzOverflow="overflow"/>
                </a:tc>
                <a:tc>
                  <a:txBody>
                    <a:bodyPr/>
                    <a:lstStyle/>
                    <a:p>
                      <a:pPr algn="ctr" defTabSz="914400">
                        <a:defRPr sz="1800"/>
                      </a:pPr>
                      <a:r>
                        <a:rPr sz="3200"/>
                        <a:t>May require more technical knowledge; customizable</a:t>
                      </a:r>
                    </a:p>
                  </a:txBody>
                  <a:tcPr marL="50800" marR="50800" marT="50800" marB="50800" anchor="ctr" anchorCtr="0" horzOverflow="overflow"/>
                </a:tc>
              </a:tr>
              <a:tr h="1125500">
                <a:tc>
                  <a:txBody>
                    <a:bodyPr/>
                    <a:lstStyle/>
                    <a:p>
                      <a:pPr algn="ctr" defTabSz="914400">
                        <a:defRPr b="0" sz="1800"/>
                      </a:pPr>
                      <a:r>
                        <a:rPr sz="3200">
                          <a:sym typeface="Graphik Semibold"/>
                        </a:rPr>
                        <a:t>Community and Support</a:t>
                      </a:r>
                    </a:p>
                  </a:txBody>
                  <a:tcPr marL="50800" marR="50800" marT="50800" marB="50800" anchor="ctr" anchorCtr="0" horzOverflow="overflow"/>
                </a:tc>
                <a:tc>
                  <a:txBody>
                    <a:bodyPr/>
                    <a:lstStyle/>
                    <a:p>
                      <a:pPr algn="ctr" defTabSz="914400">
                        <a:defRPr sz="1800"/>
                      </a:pPr>
                      <a:r>
                        <a:rPr sz="3200"/>
                        <a:t>Typically backed by commercial support</a:t>
                      </a:r>
                    </a:p>
                  </a:txBody>
                  <a:tcPr marL="50800" marR="50800" marT="50800" marB="50800" anchor="ctr" anchorCtr="0" horzOverflow="overflow"/>
                </a:tc>
                <a:tc>
                  <a:txBody>
                    <a:bodyPr/>
                    <a:lstStyle/>
                    <a:p>
                      <a:pPr algn="ctr" defTabSz="914400">
                        <a:defRPr sz="1800"/>
                      </a:pPr>
                      <a:r>
                        <a:rPr sz="3200"/>
                        <a:t>Relies on community support; responsiveness varies</a:t>
                      </a:r>
                    </a:p>
                  </a:txBody>
                  <a:tcPr marL="50800" marR="50800" marT="50800" marB="50800" anchor="ctr" anchorCtr="0" horzOverflow="overflow"/>
                </a:tc>
              </a:tr>
              <a:tr h="1125500">
                <a:tc>
                  <a:txBody>
                    <a:bodyPr/>
                    <a:lstStyle/>
                    <a:p>
                      <a:pPr algn="ctr" defTabSz="914400">
                        <a:defRPr b="0" sz="1800"/>
                      </a:pPr>
                      <a:r>
                        <a:rPr sz="3200">
                          <a:sym typeface="Graphik Semibold"/>
                        </a:rPr>
                        <a:t>Flexibility and Extension</a:t>
                      </a:r>
                    </a:p>
                  </a:txBody>
                  <a:tcPr marL="50800" marR="50800" marT="50800" marB="50800" anchor="ctr" anchorCtr="0" horzOverflow="overflow"/>
                </a:tc>
                <a:tc>
                  <a:txBody>
                    <a:bodyPr/>
                    <a:lstStyle/>
                    <a:p>
                      <a:pPr algn="ctr" defTabSz="914400">
                        <a:defRPr sz="1800"/>
                      </a:pPr>
                      <a:r>
                        <a:rPr sz="3200"/>
                        <a:t>Structured extensibility for easy build-on</a:t>
                      </a:r>
                    </a:p>
                  </a:txBody>
                  <a:tcPr marL="50800" marR="50800" marT="50800" marB="50800" anchor="ctr" anchorCtr="0" horzOverflow="overflow"/>
                </a:tc>
                <a:tc>
                  <a:txBody>
                    <a:bodyPr/>
                    <a:lstStyle/>
                    <a:p>
                      <a:pPr algn="ctr" defTabSz="914400">
                        <a:defRPr sz="1800"/>
                      </a:pPr>
                      <a:r>
                        <a:rPr sz="3200"/>
                        <a:t>Encourages flexibility; open-source allows custom tweaks</a:t>
                      </a:r>
                    </a:p>
                  </a:txBody>
                  <a:tcPr marL="50800" marR="50800" marT="50800" marB="50800" anchor="ctr" anchorCtr="0" horzOverflow="overflow"/>
                </a:tc>
              </a:tr>
              <a:tr h="1125500">
                <a:tc>
                  <a:txBody>
                    <a:bodyPr/>
                    <a:lstStyle/>
                    <a:p>
                      <a:pPr algn="ctr" defTabSz="914400">
                        <a:defRPr b="0" sz="1800"/>
                      </a:pPr>
                      <a:r>
                        <a:rPr sz="3200">
                          <a:sym typeface="Graphik Semibold"/>
                        </a:rPr>
                        <a:t>Documentation, Learning Curve</a:t>
                      </a:r>
                    </a:p>
                  </a:txBody>
                  <a:tcPr marL="50800" marR="50800" marT="50800" marB="50800" anchor="ctr" anchorCtr="0" horzOverflow="overflow"/>
                </a:tc>
                <a:tc>
                  <a:txBody>
                    <a:bodyPr/>
                    <a:lstStyle/>
                    <a:p>
                      <a:pPr algn="ctr" defTabSz="914400">
                        <a:defRPr sz="1800"/>
                      </a:pPr>
                      <a:r>
                        <a:rPr sz="3200"/>
                        <a:t>Comprehensive documentation lowers learning curve</a:t>
                      </a:r>
                    </a:p>
                  </a:txBody>
                  <a:tcPr marL="50800" marR="50800" marT="50800" marB="50800" anchor="ctr" anchorCtr="0" horzOverflow="overflow"/>
                </a:tc>
                <a:tc>
                  <a:txBody>
                    <a:bodyPr/>
                    <a:lstStyle/>
                    <a:p>
                      <a:pPr algn="ctr" defTabSz="914400">
                        <a:defRPr sz="1800"/>
                      </a:pPr>
                      <a:r>
                        <a:rPr sz="3200"/>
                        <a:t>Depends on community contributions; may vary in quality</a:t>
                      </a:r>
                    </a:p>
                  </a:txBody>
                  <a:tcPr marL="50800" marR="50800" marT="50800" marB="50800" anchor="ctr" anchorCtr="0" horzOverflow="overflow"/>
                </a:tc>
              </a:tr>
            </a:tbl>
          </a:graphicData>
        </a:graphic>
      </p:graphicFrame>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Command Workflow"/>
          <p:cNvSpPr txBox="1"/>
          <p:nvPr>
            <p:ph type="title"/>
          </p:nvPr>
        </p:nvSpPr>
        <p:spPr>
          <a:prstGeom prst="rect">
            <a:avLst/>
          </a:prstGeom>
        </p:spPr>
        <p:txBody>
          <a:bodyPr/>
          <a:lstStyle>
            <a:lvl1pPr defTabSz="2316479">
              <a:defRPr spc="-95" sz="9500"/>
            </a:lvl1pPr>
          </a:lstStyle>
          <a:p>
            <a:pPr/>
            <a:r>
              <a:t>Command Workflow</a:t>
            </a:r>
          </a:p>
        </p:txBody>
      </p:sp>
      <p:sp>
        <p:nvSpPr>
          <p:cNvPr id="188" name="Basic: constitution —&gt; specify —&gt; plan —&gt; tasks —&gt; implement…"/>
          <p:cNvSpPr txBox="1"/>
          <p:nvPr>
            <p:ph type="body" sz="half" idx="1"/>
          </p:nvPr>
        </p:nvSpPr>
        <p:spPr>
          <a:xfrm>
            <a:off x="1206500" y="2453163"/>
            <a:ext cx="21971000" cy="3835175"/>
          </a:xfrm>
          <a:prstGeom prst="rect">
            <a:avLst/>
          </a:prstGeom>
        </p:spPr>
        <p:txBody>
          <a:bodyPr/>
          <a:lstStyle/>
          <a:p>
            <a:pPr/>
            <a:r>
              <a:t>Basic: constitution —&gt; specify —&gt; plan —&gt; tasks —&gt; implement </a:t>
            </a:r>
          </a:p>
          <a:p>
            <a:pPr/>
            <a:r>
              <a:t>Alternate: constitution -&gt; specify -&gt; clarify -&gt; plan -&gt; tasks -&gt; analyze -&gt; implement</a:t>
            </a:r>
          </a:p>
        </p:txBody>
      </p:sp>
      <p:sp>
        <p:nvSpPr>
          <p:cNvPr id="189" name="/constitution project principles, standards"/>
          <p:cNvSpPr/>
          <p:nvPr/>
        </p:nvSpPr>
        <p:spPr>
          <a:xfrm>
            <a:off x="2064170" y="5807800"/>
            <a:ext cx="4810764" cy="1502261"/>
          </a:xfrm>
          <a:prstGeom prst="rect">
            <a:avLst/>
          </a:prstGeom>
          <a:solidFill>
            <a:schemeClr val="accent4"/>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spcBef>
                <a:spcPts val="0"/>
              </a:spcBef>
              <a:defRPr sz="3200"/>
            </a:lvl1pPr>
          </a:lstStyle>
          <a:p>
            <a:pPr/>
            <a:r>
              <a:t>/constitution project principles, standards</a:t>
            </a:r>
          </a:p>
        </p:txBody>
      </p:sp>
      <p:sp>
        <p:nvSpPr>
          <p:cNvPr id="190" name="Rectangle"/>
          <p:cNvSpPr/>
          <p:nvPr/>
        </p:nvSpPr>
        <p:spPr>
          <a:xfrm>
            <a:off x="2058011" y="8507979"/>
            <a:ext cx="18781210" cy="2203592"/>
          </a:xfrm>
          <a:prstGeom prst="rect">
            <a:avLst/>
          </a:prstGeom>
          <a:solidFill>
            <a:schemeClr val="accent1">
              <a:hueOff val="-181383"/>
              <a:satOff val="15108"/>
              <a:lumOff val="14987"/>
            </a:schemeClr>
          </a:solidFill>
          <a:ln w="12700">
            <a:miter lim="400000"/>
          </a:ln>
        </p:spPr>
        <p:txBody>
          <a:bodyPr lIns="50800" tIns="50800" rIns="50800" bIns="50800" anchor="ctr"/>
          <a:lstStyle/>
          <a:p>
            <a:pPr algn="ctr" defTabSz="825500">
              <a:spcBef>
                <a:spcPts val="0"/>
              </a:spcBef>
              <a:defRPr sz="2100"/>
            </a:pPr>
          </a:p>
        </p:txBody>
      </p:sp>
      <p:sp>
        <p:nvSpPr>
          <p:cNvPr id="191" name="/specify define what you need (no tech info)"/>
          <p:cNvSpPr/>
          <p:nvPr/>
        </p:nvSpPr>
        <p:spPr>
          <a:xfrm>
            <a:off x="2291578" y="8858645"/>
            <a:ext cx="2604713" cy="1502260"/>
          </a:xfrm>
          <a:prstGeom prst="rect">
            <a:avLst/>
          </a:prstGeom>
          <a:solidFill>
            <a:schemeClr val="accent1">
              <a:satOff val="-9155"/>
              <a:lumOff val="-32673"/>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spcBef>
                <a:spcPts val="0"/>
              </a:spcBef>
              <a:defRPr sz="2100">
                <a:solidFill>
                  <a:srgbClr val="FFFFFF"/>
                </a:solidFill>
              </a:defRPr>
            </a:lvl1pPr>
          </a:lstStyle>
          <a:p>
            <a:pPr/>
            <a:r>
              <a:t>/specify define what you need (no tech info)</a:t>
            </a:r>
          </a:p>
        </p:txBody>
      </p:sp>
      <p:sp>
        <p:nvSpPr>
          <p:cNvPr id="192" name="/clarify follow up questions"/>
          <p:cNvSpPr/>
          <p:nvPr/>
        </p:nvSpPr>
        <p:spPr>
          <a:xfrm>
            <a:off x="5436518" y="8858645"/>
            <a:ext cx="2604712" cy="1502260"/>
          </a:xfrm>
          <a:prstGeom prst="rect">
            <a:avLst/>
          </a:prstGeom>
          <a:solidFill>
            <a:schemeClr val="accent2"/>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spcBef>
                <a:spcPts val="0"/>
              </a:spcBef>
              <a:defRPr sz="2100">
                <a:solidFill>
                  <a:srgbClr val="FFFFFF"/>
                </a:solidFill>
              </a:defRPr>
            </a:lvl1pPr>
          </a:lstStyle>
          <a:p>
            <a:pPr/>
            <a:r>
              <a:t>/clarify follow up questions</a:t>
            </a:r>
          </a:p>
        </p:txBody>
      </p:sp>
      <p:sp>
        <p:nvSpPr>
          <p:cNvPr id="193" name="/plan implementation plan"/>
          <p:cNvSpPr/>
          <p:nvPr/>
        </p:nvSpPr>
        <p:spPr>
          <a:xfrm>
            <a:off x="8581457" y="8858645"/>
            <a:ext cx="2604713" cy="1502260"/>
          </a:xfrm>
          <a:prstGeom prst="rect">
            <a:avLst/>
          </a:prstGeom>
          <a:solidFill>
            <a:schemeClr val="accent1">
              <a:satOff val="-9155"/>
              <a:lumOff val="-32673"/>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spcBef>
                <a:spcPts val="0"/>
              </a:spcBef>
              <a:defRPr sz="2100">
                <a:solidFill>
                  <a:srgbClr val="FFFFFF"/>
                </a:solidFill>
              </a:defRPr>
            </a:lvl1pPr>
          </a:lstStyle>
          <a:p>
            <a:pPr/>
            <a:r>
              <a:t>/plan implementation plan</a:t>
            </a:r>
          </a:p>
        </p:txBody>
      </p:sp>
      <p:sp>
        <p:nvSpPr>
          <p:cNvPr id="194" name="/tasks break plan into actionable steps"/>
          <p:cNvSpPr/>
          <p:nvPr/>
        </p:nvSpPr>
        <p:spPr>
          <a:xfrm>
            <a:off x="11726397" y="8858645"/>
            <a:ext cx="2604712" cy="1502260"/>
          </a:xfrm>
          <a:prstGeom prst="rect">
            <a:avLst/>
          </a:prstGeom>
          <a:solidFill>
            <a:schemeClr val="accent1">
              <a:satOff val="-9155"/>
              <a:lumOff val="-32673"/>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spcBef>
                <a:spcPts val="0"/>
              </a:spcBef>
              <a:defRPr sz="2100">
                <a:solidFill>
                  <a:srgbClr val="FFFFFF"/>
                </a:solidFill>
              </a:defRPr>
            </a:lvl1pPr>
          </a:lstStyle>
          <a:p>
            <a:pPr/>
            <a:r>
              <a:t>/tasks break plan into actionable steps</a:t>
            </a:r>
          </a:p>
        </p:txBody>
      </p:sp>
      <p:sp>
        <p:nvSpPr>
          <p:cNvPr id="195" name="/implement execute tasks, text"/>
          <p:cNvSpPr/>
          <p:nvPr/>
        </p:nvSpPr>
        <p:spPr>
          <a:xfrm>
            <a:off x="18016275" y="8858645"/>
            <a:ext cx="2604713" cy="1502260"/>
          </a:xfrm>
          <a:prstGeom prst="rect">
            <a:avLst/>
          </a:prstGeom>
          <a:solidFill>
            <a:schemeClr val="accent1">
              <a:satOff val="-9155"/>
              <a:lumOff val="-32673"/>
            </a:schemeClr>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spcBef>
                <a:spcPts val="0"/>
              </a:spcBef>
              <a:defRPr sz="2100">
                <a:solidFill>
                  <a:srgbClr val="FFFFFF"/>
                </a:solidFill>
              </a:defRPr>
            </a:lvl1pPr>
          </a:lstStyle>
          <a:p>
            <a:pPr/>
            <a:r>
              <a:t>/implement execute tasks, text</a:t>
            </a:r>
          </a:p>
        </p:txBody>
      </p:sp>
      <p:sp>
        <p:nvSpPr>
          <p:cNvPr id="196" name="/analyze validate documents"/>
          <p:cNvSpPr/>
          <p:nvPr/>
        </p:nvSpPr>
        <p:spPr>
          <a:xfrm>
            <a:off x="14871337" y="8858645"/>
            <a:ext cx="2604712" cy="1502260"/>
          </a:xfrm>
          <a:prstGeom prst="rect">
            <a:avLst/>
          </a:prstGeom>
          <a:solidFill>
            <a:schemeClr val="accent2"/>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spcBef>
                <a:spcPts val="0"/>
              </a:spcBef>
              <a:defRPr sz="2100">
                <a:solidFill>
                  <a:srgbClr val="FFFFFF"/>
                </a:solidFill>
              </a:defRPr>
            </a:lvl1pPr>
          </a:lstStyle>
          <a:p>
            <a:pPr/>
            <a:r>
              <a:t>/analyze validate documents</a:t>
            </a:r>
          </a:p>
        </p:txBody>
      </p:sp>
      <p:sp>
        <p:nvSpPr>
          <p:cNvPr id="197" name="Commit: pull request, merge"/>
          <p:cNvSpPr/>
          <p:nvPr/>
        </p:nvSpPr>
        <p:spPr>
          <a:xfrm>
            <a:off x="21161215" y="8858645"/>
            <a:ext cx="2604712" cy="1502260"/>
          </a:xfrm>
          <a:prstGeom prst="rect">
            <a:avLst/>
          </a:prstGeom>
          <a:solidFill>
            <a:schemeClr val="accent2"/>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spcBef>
                <a:spcPts val="0"/>
              </a:spcBef>
              <a:defRPr sz="2100">
                <a:solidFill>
                  <a:srgbClr val="FFFFFF"/>
                </a:solidFill>
              </a:defRPr>
            </a:lvl1pPr>
          </a:lstStyle>
          <a:p>
            <a:pPr/>
            <a:r>
              <a:t>Commit: pull request, merge</a:t>
            </a:r>
          </a:p>
        </p:txBody>
      </p:sp>
      <p:sp>
        <p:nvSpPr>
          <p:cNvPr id="198" name="Line"/>
          <p:cNvSpPr/>
          <p:nvPr/>
        </p:nvSpPr>
        <p:spPr>
          <a:xfrm>
            <a:off x="4869098" y="9642919"/>
            <a:ext cx="568660" cy="1"/>
          </a:xfrm>
          <a:prstGeom prst="line">
            <a:avLst/>
          </a:prstGeom>
          <a:ln w="50800">
            <a:solidFill>
              <a:schemeClr val="accent1">
                <a:satOff val="-9155"/>
                <a:lumOff val="-32673"/>
              </a:schemeClr>
            </a:solidFill>
            <a:miter lim="400000"/>
            <a:tailEnd type="triangle"/>
          </a:ln>
        </p:spPr>
        <p:txBody>
          <a:bodyPr lIns="50800" tIns="50800" rIns="50800" bIns="50800" anchor="ctr"/>
          <a:lstStyle/>
          <a:p>
            <a:pPr/>
          </a:p>
        </p:txBody>
      </p:sp>
      <p:sp>
        <p:nvSpPr>
          <p:cNvPr id="199" name="Line"/>
          <p:cNvSpPr/>
          <p:nvPr/>
        </p:nvSpPr>
        <p:spPr>
          <a:xfrm>
            <a:off x="4524183" y="7320675"/>
            <a:ext cx="1" cy="1222524"/>
          </a:xfrm>
          <a:prstGeom prst="line">
            <a:avLst/>
          </a:prstGeom>
          <a:ln w="50800">
            <a:solidFill>
              <a:schemeClr val="accent1">
                <a:satOff val="-9155"/>
                <a:lumOff val="-32673"/>
              </a:schemeClr>
            </a:solidFill>
            <a:miter lim="400000"/>
            <a:tailEnd type="triangle"/>
          </a:ln>
        </p:spPr>
        <p:txBody>
          <a:bodyPr lIns="50800" tIns="50800" rIns="50800" bIns="50800" anchor="ctr"/>
          <a:lstStyle/>
          <a:p>
            <a:pPr/>
          </a:p>
        </p:txBody>
      </p:sp>
      <p:sp>
        <p:nvSpPr>
          <p:cNvPr id="200" name="Line"/>
          <p:cNvSpPr/>
          <p:nvPr/>
        </p:nvSpPr>
        <p:spPr>
          <a:xfrm>
            <a:off x="8027013" y="9642919"/>
            <a:ext cx="568661" cy="1"/>
          </a:xfrm>
          <a:prstGeom prst="line">
            <a:avLst/>
          </a:prstGeom>
          <a:ln w="50800">
            <a:solidFill>
              <a:schemeClr val="accent1">
                <a:satOff val="-9155"/>
                <a:lumOff val="-32673"/>
              </a:schemeClr>
            </a:solidFill>
            <a:miter lim="400000"/>
            <a:tailEnd type="triangle"/>
          </a:ln>
        </p:spPr>
        <p:txBody>
          <a:bodyPr lIns="50800" tIns="50800" rIns="50800" bIns="50800" anchor="ctr"/>
          <a:lstStyle/>
          <a:p>
            <a:pPr/>
          </a:p>
        </p:txBody>
      </p:sp>
      <p:sp>
        <p:nvSpPr>
          <p:cNvPr id="201" name="Line"/>
          <p:cNvSpPr/>
          <p:nvPr/>
        </p:nvSpPr>
        <p:spPr>
          <a:xfrm>
            <a:off x="11171953" y="9642919"/>
            <a:ext cx="568661" cy="1"/>
          </a:xfrm>
          <a:prstGeom prst="line">
            <a:avLst/>
          </a:prstGeom>
          <a:ln w="50800">
            <a:solidFill>
              <a:schemeClr val="accent1">
                <a:satOff val="-9155"/>
                <a:lumOff val="-32673"/>
              </a:schemeClr>
            </a:solidFill>
            <a:miter lim="400000"/>
            <a:tailEnd type="triangle"/>
          </a:ln>
        </p:spPr>
        <p:txBody>
          <a:bodyPr lIns="50800" tIns="50800" rIns="50800" bIns="50800" anchor="ctr"/>
          <a:lstStyle/>
          <a:p>
            <a:pPr/>
          </a:p>
        </p:txBody>
      </p:sp>
      <p:sp>
        <p:nvSpPr>
          <p:cNvPr id="202" name="Line"/>
          <p:cNvSpPr/>
          <p:nvPr/>
        </p:nvSpPr>
        <p:spPr>
          <a:xfrm>
            <a:off x="14331108" y="9642919"/>
            <a:ext cx="568660" cy="1"/>
          </a:xfrm>
          <a:prstGeom prst="line">
            <a:avLst/>
          </a:prstGeom>
          <a:ln w="50800">
            <a:solidFill>
              <a:schemeClr val="accent1">
                <a:satOff val="-9155"/>
                <a:lumOff val="-32673"/>
              </a:schemeClr>
            </a:solidFill>
            <a:miter lim="400000"/>
            <a:tailEnd type="triangle"/>
          </a:ln>
        </p:spPr>
        <p:txBody>
          <a:bodyPr lIns="50800" tIns="50800" rIns="50800" bIns="50800" anchor="ctr"/>
          <a:lstStyle/>
          <a:p>
            <a:pPr/>
          </a:p>
        </p:txBody>
      </p:sp>
      <p:sp>
        <p:nvSpPr>
          <p:cNvPr id="203" name="Line"/>
          <p:cNvSpPr/>
          <p:nvPr/>
        </p:nvSpPr>
        <p:spPr>
          <a:xfrm>
            <a:off x="17489023" y="9642919"/>
            <a:ext cx="568661" cy="1"/>
          </a:xfrm>
          <a:prstGeom prst="line">
            <a:avLst/>
          </a:prstGeom>
          <a:ln w="50800">
            <a:solidFill>
              <a:schemeClr val="accent1">
                <a:satOff val="-9155"/>
                <a:lumOff val="-32673"/>
              </a:schemeClr>
            </a:solidFill>
            <a:miter lim="400000"/>
            <a:tailEnd type="triangle"/>
          </a:ln>
        </p:spPr>
        <p:txBody>
          <a:bodyPr lIns="50800" tIns="50800" rIns="50800" bIns="50800" anchor="ctr"/>
          <a:lstStyle/>
          <a:p>
            <a:pPr/>
          </a:p>
        </p:txBody>
      </p:sp>
      <p:sp>
        <p:nvSpPr>
          <p:cNvPr id="204" name="Line"/>
          <p:cNvSpPr/>
          <p:nvPr/>
        </p:nvSpPr>
        <p:spPr>
          <a:xfrm>
            <a:off x="20633963" y="9642919"/>
            <a:ext cx="568661" cy="1"/>
          </a:xfrm>
          <a:prstGeom prst="line">
            <a:avLst/>
          </a:prstGeom>
          <a:ln w="50800">
            <a:solidFill>
              <a:schemeClr val="accent1">
                <a:satOff val="-9155"/>
                <a:lumOff val="-32673"/>
              </a:schemeClr>
            </a:solidFill>
            <a:miter lim="400000"/>
            <a:tailEnd type="triangle"/>
          </a:ln>
        </p:spPr>
        <p:txBody>
          <a:bodyPr lIns="50800" tIns="50800" rIns="50800" bIns="50800" anchor="ctr"/>
          <a:lstStyle/>
          <a:p>
            <a:pPr/>
          </a:p>
        </p:txBody>
      </p:sp>
      <p:sp>
        <p:nvSpPr>
          <p:cNvPr id="205" name="Line"/>
          <p:cNvSpPr/>
          <p:nvPr/>
        </p:nvSpPr>
        <p:spPr>
          <a:xfrm>
            <a:off x="22463571" y="10345827"/>
            <a:ext cx="1" cy="1502261"/>
          </a:xfrm>
          <a:prstGeom prst="line">
            <a:avLst/>
          </a:prstGeom>
          <a:ln w="50800">
            <a:solidFill>
              <a:schemeClr val="accent1">
                <a:satOff val="-9155"/>
                <a:lumOff val="-32673"/>
              </a:schemeClr>
            </a:solidFill>
            <a:miter lim="400000"/>
            <a:tailEnd type="triangle"/>
          </a:ln>
        </p:spPr>
        <p:txBody>
          <a:bodyPr lIns="50800" tIns="50800" rIns="50800" bIns="50800" anchor="ctr"/>
          <a:lstStyle/>
          <a:p>
            <a:pPr/>
          </a:p>
        </p:txBody>
      </p:sp>
      <p:sp>
        <p:nvSpPr>
          <p:cNvPr id="206" name="Line"/>
          <p:cNvSpPr/>
          <p:nvPr/>
        </p:nvSpPr>
        <p:spPr>
          <a:xfrm>
            <a:off x="3591765" y="11787474"/>
            <a:ext cx="18781211" cy="1"/>
          </a:xfrm>
          <a:prstGeom prst="line">
            <a:avLst/>
          </a:prstGeom>
          <a:ln w="25400">
            <a:solidFill>
              <a:schemeClr val="accent1">
                <a:satOff val="-9155"/>
                <a:lumOff val="-32673"/>
              </a:schemeClr>
            </a:solidFill>
            <a:miter lim="400000"/>
          </a:ln>
        </p:spPr>
        <p:txBody>
          <a:bodyPr lIns="50800" tIns="50800" rIns="50800" bIns="50800" anchor="ctr"/>
          <a:lstStyle/>
          <a:p>
            <a:pPr/>
          </a:p>
        </p:txBody>
      </p:sp>
      <p:sp>
        <p:nvSpPr>
          <p:cNvPr id="207" name="Line"/>
          <p:cNvSpPr/>
          <p:nvPr/>
        </p:nvSpPr>
        <p:spPr>
          <a:xfrm flipV="1">
            <a:off x="3558550" y="10346774"/>
            <a:ext cx="1" cy="1500367"/>
          </a:xfrm>
          <a:prstGeom prst="line">
            <a:avLst/>
          </a:prstGeom>
          <a:ln w="50800">
            <a:solidFill>
              <a:schemeClr val="accent1">
                <a:satOff val="-9155"/>
                <a:lumOff val="-32673"/>
              </a:schemeClr>
            </a:solidFill>
            <a:miter lim="400000"/>
            <a:tailEnd type="triangle"/>
          </a:ln>
        </p:spPr>
        <p:txBody>
          <a:bodyPr lIns="50800" tIns="50800" rIns="50800" bIns="50800" anchor="ctr"/>
          <a:lstStyle/>
          <a:p>
            <a:pP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A Weather app.. exploratory data analysi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 Weather app.. exploratory data analysis</a:t>
            </a:r>
          </a:p>
        </p:txBody>
      </p:sp>
      <p:sp>
        <p:nvSpPr>
          <p:cNvPr id="210" name="Sample project setup"/>
          <p:cNvSpPr txBox="1"/>
          <p:nvPr>
            <p:ph type="title"/>
          </p:nvPr>
        </p:nvSpPr>
        <p:spPr>
          <a:prstGeom prst="rect">
            <a:avLst/>
          </a:prstGeom>
        </p:spPr>
        <p:txBody>
          <a:bodyPr/>
          <a:lstStyle>
            <a:lvl1pPr defTabSz="2316479">
              <a:defRPr spc="-95" sz="9500"/>
            </a:lvl1pPr>
          </a:lstStyle>
          <a:p>
            <a:pPr/>
            <a:r>
              <a:t>Sample project setup</a:t>
            </a:r>
          </a:p>
        </p:txBody>
      </p:sp>
      <p:sp>
        <p:nvSpPr>
          <p:cNvPr id="211" name="Pre-requisites:…"/>
          <p:cNvSpPr txBox="1"/>
          <p:nvPr>
            <p:ph type="body" idx="1"/>
          </p:nvPr>
        </p:nvSpPr>
        <p:spPr>
          <a:prstGeom prst="rect">
            <a:avLst/>
          </a:prstGeom>
        </p:spPr>
        <p:txBody>
          <a:bodyPr/>
          <a:lstStyle/>
          <a:p>
            <a:pPr/>
            <a:r>
              <a:t>Pre-requisites: </a:t>
            </a:r>
          </a:p>
          <a:p>
            <a:pPr lvl="1"/>
            <a:r>
              <a:t>Python ^3.12; UV from Astral; Speckit (optional or its zip folder)</a:t>
            </a:r>
          </a:p>
          <a:p>
            <a:pPr/>
            <a:r>
              <a:t>Project, speckit setup:</a:t>
            </a:r>
          </a:p>
          <a:p>
            <a:pPr lvl="1"/>
            <a:r>
              <a:t>Either use speckit init command or unzip the templates into project-root folder.</a:t>
            </a:r>
          </a:p>
          <a:p>
            <a:pPr/>
            <a:r>
              <a:t>Optional: use WeatherData CSV file (kaggle or NOAA)</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Give this slash-command followed by the prompt below"/>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Give this slash-command followed by the prompt below</a:t>
            </a:r>
          </a:p>
        </p:txBody>
      </p:sp>
      <p:sp>
        <p:nvSpPr>
          <p:cNvPr id="214" name="Step 1: speckit.constitution"/>
          <p:cNvSpPr txBox="1"/>
          <p:nvPr>
            <p:ph type="title"/>
          </p:nvPr>
        </p:nvSpPr>
        <p:spPr>
          <a:prstGeom prst="rect">
            <a:avLst/>
          </a:prstGeom>
        </p:spPr>
        <p:txBody>
          <a:bodyPr/>
          <a:lstStyle>
            <a:lvl1pPr defTabSz="2316479">
              <a:defRPr spc="-95" sz="9500"/>
            </a:lvl1pPr>
          </a:lstStyle>
          <a:p>
            <a:pPr/>
            <a:r>
              <a:t>Step 1: speckit.constitution</a:t>
            </a:r>
          </a:p>
        </p:txBody>
      </p:sp>
      <p:sp>
        <p:nvSpPr>
          <p:cNvPr id="215" name="a single page web application showing exploratory analysis of weather data from its local folder. application should adhere to SOLID principles (Single Responsibility, Open-Closed, Liskov Substitution, Interface Segregation, Dependency Inversion). applic"/>
          <p:cNvSpPr txBox="1"/>
          <p:nvPr>
            <p:ph type="body" idx="1"/>
          </p:nvPr>
        </p:nvSpPr>
        <p:spPr>
          <a:prstGeom prst="rect">
            <a:avLst/>
          </a:prstGeom>
        </p:spPr>
        <p:txBody>
          <a:bodyPr/>
          <a:lstStyle/>
          <a:p>
            <a:pPr/>
            <a:r>
              <a:t>a single page web application showing exploratory analysis of weather data from its local folder. application should adhere to SOLID principles (Single Responsibility, Open-Closed, Liskov Substitution, Interface Segregation, Dependency Inversion). application should also use at least 10 best practices for using simple Next.JS framework. it should have a test coverage of 90%</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7" name="Give this slash-command followed by the prompt below"/>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Give this slash-command followed by the prompt below</a:t>
            </a:r>
          </a:p>
        </p:txBody>
      </p:sp>
      <p:sp>
        <p:nvSpPr>
          <p:cNvPr id="218" name="Step 2: speckit.specify"/>
          <p:cNvSpPr txBox="1"/>
          <p:nvPr>
            <p:ph type="title"/>
          </p:nvPr>
        </p:nvSpPr>
        <p:spPr>
          <a:prstGeom prst="rect">
            <a:avLst/>
          </a:prstGeom>
        </p:spPr>
        <p:txBody>
          <a:bodyPr/>
          <a:lstStyle>
            <a:lvl1pPr defTabSz="2316479">
              <a:defRPr spc="-95" sz="9500"/>
            </a:lvl1pPr>
          </a:lstStyle>
          <a:p>
            <a:pPr/>
            <a:r>
              <a:t>Step 2: speckit.specify</a:t>
            </a:r>
          </a:p>
        </p:txBody>
      </p:sp>
      <p:sp>
        <p:nvSpPr>
          <p:cNvPr id="219" name="the application provides services to get average temperature and humidity per month over the year from the weather data in resources folder of the application. it also provides a service which will for a given month show the trend of temperature and humi"/>
          <p:cNvSpPr txBox="1"/>
          <p:nvPr>
            <p:ph type="body" idx="1"/>
          </p:nvPr>
        </p:nvSpPr>
        <p:spPr>
          <a:prstGeom prst="rect">
            <a:avLst/>
          </a:prstGeom>
        </p:spPr>
        <p:txBody>
          <a:bodyPr/>
          <a:lstStyle/>
          <a:p>
            <a:pPr/>
            <a:r>
              <a:t>the application provides services to get average temperature and humidity per month over the year from the weather data in resources folder of the application. it also provides a service which will for a given month show the trend of temperature and humidity and most common weather condition in that month. the application on the webpage shows two charts side by side for average temperature and humidity over the year. it them provides user option to select a month to see the weather trends for that month</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1" name="Step 3: speckit.clarify"/>
          <p:cNvSpPr txBox="1"/>
          <p:nvPr>
            <p:ph type="title"/>
          </p:nvPr>
        </p:nvSpPr>
        <p:spPr>
          <a:prstGeom prst="rect">
            <a:avLst/>
          </a:prstGeom>
        </p:spPr>
        <p:txBody>
          <a:bodyPr/>
          <a:lstStyle>
            <a:lvl1pPr defTabSz="2316479">
              <a:defRPr spc="-95" sz="9500"/>
            </a:lvl1pPr>
          </a:lstStyle>
          <a:p>
            <a:pPr/>
            <a:r>
              <a:t>Step 3: speckit.clarify</a:t>
            </a:r>
          </a:p>
        </p:txBody>
      </p:sp>
      <p:sp>
        <p:nvSpPr>
          <p:cNvPr id="222" name="for this step, just run the slash command…"/>
          <p:cNvSpPr txBox="1"/>
          <p:nvPr>
            <p:ph type="body" idx="1"/>
          </p:nvPr>
        </p:nvSpPr>
        <p:spPr>
          <a:prstGeom prst="rect">
            <a:avLst/>
          </a:prstGeom>
        </p:spPr>
        <p:txBody>
          <a:bodyPr/>
          <a:lstStyle/>
          <a:p>
            <a:pPr/>
            <a:r>
              <a:t>for this step, just run the slash command </a:t>
            </a:r>
          </a:p>
          <a:p>
            <a:pPr/>
            <a:r>
              <a:t>when Windsurf asks questions for clarification, answer with appropriate options</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Give this slash-command followed by the prompt below"/>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Give this slash-command followed by the prompt below</a:t>
            </a:r>
          </a:p>
        </p:txBody>
      </p:sp>
      <p:sp>
        <p:nvSpPr>
          <p:cNvPr id="225" name="Step 4: speckit.plan"/>
          <p:cNvSpPr txBox="1"/>
          <p:nvPr>
            <p:ph type="title"/>
          </p:nvPr>
        </p:nvSpPr>
        <p:spPr>
          <a:prstGeom prst="rect">
            <a:avLst/>
          </a:prstGeom>
        </p:spPr>
        <p:txBody>
          <a:bodyPr/>
          <a:lstStyle>
            <a:lvl1pPr defTabSz="2316479">
              <a:defRPr spc="-95" sz="9500"/>
            </a:lvl1pPr>
          </a:lstStyle>
          <a:p>
            <a:pPr/>
            <a:r>
              <a:t>Step 4: speckit.plan</a:t>
            </a:r>
          </a:p>
        </p:txBody>
      </p:sp>
      <p:sp>
        <p:nvSpPr>
          <p:cNvPr id="226" name="use python 3.12 and UV package manager from Astral which is installed / available on this project's root folder. use FastAPI or a better library to build the backend services. WeatherData.csv available in src/main/resources folder, is the data to be used"/>
          <p:cNvSpPr txBox="1"/>
          <p:nvPr>
            <p:ph type="body" idx="1"/>
          </p:nvPr>
        </p:nvSpPr>
        <p:spPr>
          <a:prstGeom prst="rect">
            <a:avLst/>
          </a:prstGeom>
        </p:spPr>
        <p:txBody>
          <a:bodyPr/>
          <a:lstStyle/>
          <a:p>
            <a:pPr/>
            <a:r>
              <a:t>use python 3.12 and UV package manager from Astral which is installed / available on this project's root folder. use FastAPI or a better library to build the backend services. WeatherData.csv available in src/main/resources folder, is the data to be used for this application. use panda library to read CSV data, use matplotlib and seaborn to create charts, use Next.JS to create a responsive web application with requested features</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Give this slash-command followed by the prompt below"/>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Give this slash-command followed by the prompt below</a:t>
            </a:r>
          </a:p>
        </p:txBody>
      </p:sp>
      <p:sp>
        <p:nvSpPr>
          <p:cNvPr id="229" name="Step 5: speckit.tasks"/>
          <p:cNvSpPr txBox="1"/>
          <p:nvPr>
            <p:ph type="title"/>
          </p:nvPr>
        </p:nvSpPr>
        <p:spPr>
          <a:prstGeom prst="rect">
            <a:avLst/>
          </a:prstGeom>
        </p:spPr>
        <p:txBody>
          <a:bodyPr/>
          <a:lstStyle>
            <a:lvl1pPr defTabSz="2316479">
              <a:defRPr spc="-95" sz="9500"/>
            </a:lvl1pPr>
          </a:lstStyle>
          <a:p>
            <a:pPr/>
            <a:r>
              <a:t>Step 5: speckit.tasks</a:t>
            </a:r>
          </a:p>
        </p:txBody>
      </p:sp>
      <p:sp>
        <p:nvSpPr>
          <p:cNvPr id="230" name="this project has speckit templates. the spec.md and plan.md for the application are located at ./specs/001-weather-analysis folder. use these and create tasks for this plan. In phase 1, have tasks for creating backend services for user story 1, then user"/>
          <p:cNvSpPr txBox="1"/>
          <p:nvPr>
            <p:ph type="body" idx="1"/>
          </p:nvPr>
        </p:nvSpPr>
        <p:spPr>
          <a:prstGeom prst="rect">
            <a:avLst/>
          </a:prstGeom>
        </p:spPr>
        <p:txBody>
          <a:bodyPr/>
          <a:lstStyle/>
          <a:p>
            <a:pPr/>
            <a:r>
              <a:t>this project has speckit templates. the spec.md and plan.md for the application are located at ./specs/001-weather-analysis folder. use these and create tasks for this plan. In phase 1, have tasks for creating backend services for user story 1, then user story 2, then sequence the tasks for creating the frontend application. have task for implementing unit test cases at the right sequence. i would like to build one feature at a time.</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Give this slash-command followed by the prompts below"/>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Give this slash-command followed by the prompts below</a:t>
            </a:r>
          </a:p>
        </p:txBody>
      </p:sp>
      <p:sp>
        <p:nvSpPr>
          <p:cNvPr id="233" name="Step 7: speckit.implement"/>
          <p:cNvSpPr txBox="1"/>
          <p:nvPr>
            <p:ph type="title"/>
          </p:nvPr>
        </p:nvSpPr>
        <p:spPr>
          <a:prstGeom prst="rect">
            <a:avLst/>
          </a:prstGeom>
        </p:spPr>
        <p:txBody>
          <a:bodyPr/>
          <a:lstStyle>
            <a:lvl1pPr defTabSz="2316479">
              <a:defRPr spc="-95" sz="9500"/>
            </a:lvl1pPr>
          </a:lstStyle>
          <a:p>
            <a:pPr/>
            <a:r>
              <a:t>Step 7: speckit.implement</a:t>
            </a:r>
          </a:p>
        </p:txBody>
      </p:sp>
      <p:sp>
        <p:nvSpPr>
          <p:cNvPr id="234" name="Ask AI assistant to implement only certain tasks at time…"/>
          <p:cNvSpPr txBox="1"/>
          <p:nvPr>
            <p:ph type="body" idx="1"/>
          </p:nvPr>
        </p:nvSpPr>
        <p:spPr>
          <a:prstGeom prst="rect">
            <a:avLst/>
          </a:prstGeom>
        </p:spPr>
        <p:txBody>
          <a:bodyPr/>
          <a:lstStyle/>
          <a:p>
            <a:pPr/>
            <a:r>
              <a:t>Ask AI assistant to implement only certain tasks at time</a:t>
            </a:r>
          </a:p>
          <a:p>
            <a:pPr/>
            <a:r>
              <a:t>Or you can ask it to implement phase by phase, where phases are a collection of tasks in a defined sequence.</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38_MinimalistLight">
  <a:themeElements>
    <a:clrScheme name="38_MinimalistLight">
      <a:dk1>
        <a:srgbClr val="53585F"/>
      </a:dk1>
      <a:lt1>
        <a:srgbClr val="FFFFFF"/>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8_MinimalistLight">
      <a:majorFont>
        <a:latin typeface="Produkt Extralight"/>
        <a:ea typeface="Produkt Extralight"/>
        <a:cs typeface="Produkt Extralight"/>
      </a:majorFont>
      <a:minorFont>
        <a:latin typeface="Produkt Extralight"/>
        <a:ea typeface="Produkt Extralight"/>
        <a:cs typeface="Produkt Extralight"/>
      </a:minorFont>
    </a:fontScheme>
    <a:fmtScheme name="38_Minimalist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9155"/>
            <a:lumOff val="-32673"/>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atOff val="-9155"/>
              <a:lumOff val="-32673"/>
            </a:schemeClr>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8_MinimalistLight">
  <a:themeElements>
    <a:clrScheme name="38_MinimalistLight">
      <a:dk1>
        <a:srgbClr val="000000"/>
      </a:dk1>
      <a:lt1>
        <a:srgbClr val="FFFFFF"/>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8_MinimalistLight">
      <a:majorFont>
        <a:latin typeface="Produkt Extralight"/>
        <a:ea typeface="Produkt Extralight"/>
        <a:cs typeface="Produkt Extralight"/>
      </a:majorFont>
      <a:minorFont>
        <a:latin typeface="Produkt Extralight"/>
        <a:ea typeface="Produkt Extralight"/>
        <a:cs typeface="Produkt Extralight"/>
      </a:minorFont>
    </a:fontScheme>
    <a:fmtScheme name="38_Minimalist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9155"/>
            <a:lumOff val="-32673"/>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atOff val="-9155"/>
              <a:lumOff val="-32673"/>
            </a:schemeClr>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