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1pPr>
    <a:lvl2pPr marL="0" marR="0" indent="4572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2pPr>
    <a:lvl3pPr marL="0" marR="0" indent="9144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3pPr>
    <a:lvl4pPr marL="0" marR="0" indent="13716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4pPr>
    <a:lvl5pPr marL="0" marR="0" indent="18288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5pPr>
    <a:lvl6pPr marL="0" marR="0" indent="22860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6pPr>
    <a:lvl7pPr marL="0" marR="0" indent="27432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7pPr>
    <a:lvl8pPr marL="0" marR="0" indent="32004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8pPr>
    <a:lvl9pPr marL="0" marR="0" indent="36576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-357243"/>
              <a:satOff val="7293"/>
              <a:lumOff val="8906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3">
              <a:satOff val="1412"/>
              <a:lumOff val="16412"/>
            </a:schemeClr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>
                  <a:satOff val="1412"/>
                  <a:lumOff val="16412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6E937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FFF171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A51B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E1A84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103425"/>
              <a:satOff val="-7243"/>
              <a:lumOff val="9921"/>
            </a:schemeClr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chemeClr val="accent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lumOff val="-14283"/>
            </a:schemeClr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5">
                  <a:lumOff val="-1428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satOff val="-6299"/>
              <a:lumOff val="-32309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5D5D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6500" y="12268950"/>
            <a:ext cx="21971000" cy="660401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Body Level One…"/>
          <p:cNvSpPr txBox="1"/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" name="Presentation Title"/>
          <p:cNvSpPr txBox="1"/>
          <p:nvPr>
            <p:ph type="title" hasCustomPrompt="1"/>
          </p:nvPr>
        </p:nvSpPr>
        <p:spPr>
          <a:xfrm>
            <a:off x="1206500" y="2616200"/>
            <a:ext cx="21971004" cy="4648200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uturistic, curved, white structure"/>
          <p:cNvSpPr/>
          <p:nvPr>
            <p:ph type="pic" idx="21"/>
          </p:nvPr>
        </p:nvSpPr>
        <p:spPr>
          <a:xfrm>
            <a:off x="0" y="-5397500"/>
            <a:ext cx="27190700" cy="203930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Author and Date"/>
          <p:cNvSpPr txBox="1"/>
          <p:nvPr>
            <p:ph type="body" sz="quarter" idx="22" hasCustomPrompt="1"/>
          </p:nvPr>
        </p:nvSpPr>
        <p:spPr>
          <a:xfrm>
            <a:off x="1206500" y="12268200"/>
            <a:ext cx="21971000" cy="660400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Presentation Title"/>
          <p:cNvSpPr txBox="1"/>
          <p:nvPr>
            <p:ph type="title" hasCustomPrompt="1"/>
          </p:nvPr>
        </p:nvSpPr>
        <p:spPr>
          <a:xfrm>
            <a:off x="1206500" y="2616200"/>
            <a:ext cx="21971004" cy="4648200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lose-up of a curved, white, layered pattern"/>
          <p:cNvSpPr/>
          <p:nvPr>
            <p:ph type="pic" idx="21"/>
          </p:nvPr>
        </p:nvSpPr>
        <p:spPr>
          <a:xfrm>
            <a:off x="11569700" y="0"/>
            <a:ext cx="137160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3335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150100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43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Close-up of the edge of white curved stone"/>
          <p:cNvSpPr/>
          <p:nvPr>
            <p:ph type="pic" idx="21"/>
          </p:nvPr>
        </p:nvSpPr>
        <p:spPr>
          <a:xfrm>
            <a:off x="12382500" y="-1206500"/>
            <a:ext cx="12103100" cy="1614031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1" name="Slide Subtitle"/>
          <p:cNvSpPr txBox="1"/>
          <p:nvPr>
            <p:ph type="body" sz="quarter" idx="22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62" name="Slide Title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Slide Title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39116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pc="-119" sz="12000"/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100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Agenda Subtitle</a:t>
            </a:r>
          </a:p>
        </p:txBody>
      </p:sp>
      <p:sp>
        <p:nvSpPr>
          <p:cNvPr id="109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6000"/>
              </a:spcBef>
              <a:buSzTx/>
              <a:buNone/>
              <a:defRPr sz="5000"/>
            </a:lvl1pPr>
            <a:lvl2pPr marL="0" indent="457200">
              <a:spcBef>
                <a:spcPts val="6000"/>
              </a:spcBef>
              <a:buSzTx/>
              <a:buNone/>
              <a:defRPr sz="5000"/>
            </a:lvl2pPr>
            <a:lvl3pPr marL="0" indent="914400">
              <a:spcBef>
                <a:spcPts val="6000"/>
              </a:spcBef>
              <a:buSzTx/>
              <a:buNone/>
              <a:defRPr sz="5000"/>
            </a:lvl3pPr>
            <a:lvl4pPr marL="0" indent="1371600">
              <a:spcBef>
                <a:spcPts val="6000"/>
              </a:spcBef>
              <a:buSzTx/>
              <a:buNone/>
              <a:defRPr sz="5000"/>
            </a:lvl4pPr>
            <a:lvl5pPr marL="0" indent="1828800">
              <a:spcBef>
                <a:spcPts val="6000"/>
              </a:spcBef>
              <a:buSzTx/>
              <a:buNone/>
              <a:defRPr sz="50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Agenda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191000"/>
            <a:ext cx="21971000" cy="40894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206500"/>
            <a:ext cx="21971000" cy="7353300"/>
          </a:xfrm>
          <a:prstGeom prst="rect">
            <a:avLst/>
          </a:prstGeom>
        </p:spPr>
        <p:txBody>
          <a:bodyPr anchor="b"/>
          <a:lstStyle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128000"/>
            <a:ext cx="21971000" cy="1079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90000"/>
              </a:lnSpc>
              <a:spcBef>
                <a:spcPts val="0"/>
              </a:spcBef>
              <a:buSzTx/>
              <a:buNone/>
              <a:defRPr spc="-55"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5461000" y="9563100"/>
            <a:ext cx="13728700" cy="698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36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quarter" idx="1" hasCustomPrompt="1"/>
          </p:nvPr>
        </p:nvSpPr>
        <p:spPr>
          <a:xfrm>
            <a:off x="5194300" y="4165600"/>
            <a:ext cx="13995400" cy="4432300"/>
          </a:xfrm>
          <a:prstGeom prst="rect">
            <a:avLst/>
          </a:prstGeom>
        </p:spPr>
        <p:txBody>
          <a:bodyPr anchor="b"/>
          <a:lstStyle>
            <a:lvl1pPr marL="254000" indent="-2540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1pPr>
            <a:lvl2pPr marL="254000" indent="2032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2pPr>
            <a:lvl3pPr marL="254000" indent="6604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3pPr>
            <a:lvl4pPr marL="254000" indent="11176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4pPr>
            <a:lvl5pPr marL="254000" indent="15748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Close-up of a curved, white, layered pattern"/>
          <p:cNvSpPr/>
          <p:nvPr>
            <p:ph type="pic" sz="quarter" idx="21"/>
          </p:nvPr>
        </p:nvSpPr>
        <p:spPr>
          <a:xfrm>
            <a:off x="1257300" y="3213100"/>
            <a:ext cx="7289800" cy="7289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Close-up of a layered pattern of gray stone"/>
          <p:cNvSpPr/>
          <p:nvPr>
            <p:ph type="pic" sz="quarter" idx="22"/>
          </p:nvPr>
        </p:nvSpPr>
        <p:spPr>
          <a:xfrm>
            <a:off x="7353300" y="3632200"/>
            <a:ext cx="9677400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Close-up of a white ribbed pattern"/>
          <p:cNvSpPr/>
          <p:nvPr>
            <p:ph type="pic" sz="quarter" idx="23"/>
          </p:nvPr>
        </p:nvSpPr>
        <p:spPr>
          <a:xfrm>
            <a:off x="14621933" y="3632200"/>
            <a:ext cx="9677401" cy="645725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Angular, futuristic, white corridor with shadows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635000"/>
            <a:ext cx="21971000" cy="168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23558499" y="12458699"/>
            <a:ext cx="388621" cy="42926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r" defTabSz="584200">
              <a:spcBef>
                <a:spcPts val="0"/>
              </a:spcBef>
              <a:defRPr sz="2000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1pPr>
      <a:lvl2pPr marL="0" marR="0" indent="4572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2pPr>
      <a:lvl3pPr marL="0" marR="0" indent="9144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3pPr>
      <a:lvl4pPr marL="0" marR="0" indent="13716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4pPr>
      <a:lvl5pPr marL="0" marR="0" indent="18288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5pPr>
      <a:lvl6pPr marL="0" marR="0" indent="22860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6pPr>
      <a:lvl7pPr marL="0" marR="0" indent="27432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7pPr>
      <a:lvl8pPr marL="0" marR="0" indent="32004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8pPr>
      <a:lvl9pPr marL="0" marR="0" indent="36576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9pPr>
    </p:titleStyle>
    <p:bodyStyle>
      <a:lvl1pPr marL="4572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1pPr>
      <a:lvl2pPr marL="9144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2pPr>
      <a:lvl3pPr marL="13716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3pPr>
      <a:lvl4pPr marL="18288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4pPr>
      <a:lvl5pPr marL="22860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5pPr>
      <a:lvl6pPr marL="27432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6pPr>
      <a:lvl7pPr marL="32004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7pPr>
      <a:lvl8pPr marL="36576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8pPr>
      <a:lvl9pPr marL="41148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9pPr>
    </p:bodyStyle>
    <p:otherStyle>
      <a:lvl1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martinfowler.com/articles/legacy-modernization-gen-ai.html" TargetMode="External"/><Relationship Id="rId3" Type="http://schemas.openxmlformats.org/officeDocument/2006/relationships/hyperlink" Target="https://www.thoughtworks.com/en-in/insights/podcasts/technology-podcasts/using-generative-ai-legacy-modernization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Authors: Amit with Wai team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Authors: Amit with Wai team</a:t>
            </a:r>
          </a:p>
        </p:txBody>
      </p:sp>
      <p:sp>
        <p:nvSpPr>
          <p:cNvPr id="172" name="“how can SpecKit be applied to legacy application”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“how can SpecKit be applied to legacy application”</a:t>
            </a:r>
          </a:p>
        </p:txBody>
      </p:sp>
      <p:sp>
        <p:nvSpPr>
          <p:cNvPr id="173" name="Prep work for podcast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Prep work for podcast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nning for the conversa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Planning for the conversation </a:t>
            </a:r>
          </a:p>
        </p:txBody>
      </p:sp>
      <p:sp>
        <p:nvSpPr>
          <p:cNvPr id="176" name="Topic: how can SpecKit be applied to legacy application…"/>
          <p:cNvSpPr txBox="1"/>
          <p:nvPr>
            <p:ph type="body" idx="1"/>
          </p:nvPr>
        </p:nvSpPr>
        <p:spPr>
          <a:xfrm>
            <a:off x="1206500" y="2645066"/>
            <a:ext cx="21971000" cy="9859450"/>
          </a:xfrm>
          <a:prstGeom prst="rect">
            <a:avLst/>
          </a:prstGeom>
        </p:spPr>
        <p:txBody>
          <a:bodyPr/>
          <a:lstStyle/>
          <a:p>
            <a:pPr/>
            <a:r>
              <a:t>Topic: how can SpecKit be applied to legacy application</a:t>
            </a:r>
          </a:p>
          <a:p>
            <a:pPr/>
            <a:r>
              <a:t>Demonstrate one application with talking points </a:t>
            </a:r>
          </a:p>
          <a:p>
            <a:pPr/>
            <a:r>
              <a:t>white-labelled experiment = git@github.com:amitrajpurkar/sprboot_api_cktBrkr.git</a:t>
            </a:r>
          </a:p>
          <a:p>
            <a:pPr/>
            <a:r>
              <a:t>Sequence</a:t>
            </a:r>
          </a:p>
          <a:p>
            <a:pPr lvl="1">
              <a:spcBef>
                <a:spcPts val="1000"/>
              </a:spcBef>
              <a:defRPr sz="2800"/>
            </a:pPr>
            <a:r>
              <a:t>Context/ background : xxx minutes</a:t>
            </a:r>
          </a:p>
          <a:p>
            <a:pPr lvl="1">
              <a:spcBef>
                <a:spcPts val="1000"/>
              </a:spcBef>
              <a:defRPr sz="2800"/>
            </a:pPr>
            <a:r>
              <a:t>Where and how this experiment fits : xxx minutes</a:t>
            </a:r>
          </a:p>
          <a:p>
            <a:pPr lvl="1">
              <a:spcBef>
                <a:spcPts val="1000"/>
              </a:spcBef>
              <a:defRPr sz="2800"/>
            </a:pPr>
            <a:r>
              <a:t>Journey of this experiment : xxx minutes</a:t>
            </a:r>
          </a:p>
          <a:p>
            <a:pPr lvl="1">
              <a:spcBef>
                <a:spcPts val="1000"/>
              </a:spcBef>
              <a:defRPr sz="2800"/>
            </a:pPr>
            <a:r>
              <a:t>Summary and other observations : xxx minutes </a:t>
            </a:r>
          </a:p>
          <a:p>
            <a:pPr lvl="1">
              <a:spcBef>
                <a:spcPts val="1000"/>
              </a:spcBef>
              <a:defRPr sz="2800"/>
            </a:pPr>
            <a:r>
              <a:t>Ending thoughts : xxx minutes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Context for Legacy Applica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1" indent="434340" defTabSz="2316479">
              <a:defRPr spc="-95" sz="9500"/>
            </a:pPr>
            <a:r>
              <a:t>Context for Legacy Application</a:t>
            </a:r>
          </a:p>
        </p:txBody>
      </p:sp>
      <p:sp>
        <p:nvSpPr>
          <p:cNvPr id="179" name="Qualities of Legacy application…"/>
          <p:cNvSpPr txBox="1"/>
          <p:nvPr>
            <p:ph type="body" sz="half" idx="1"/>
          </p:nvPr>
        </p:nvSpPr>
        <p:spPr>
          <a:xfrm>
            <a:off x="11022478" y="2550460"/>
            <a:ext cx="12059517" cy="10278639"/>
          </a:xfrm>
          <a:prstGeom prst="rect">
            <a:avLst/>
          </a:prstGeom>
        </p:spPr>
        <p:txBody>
          <a:bodyPr/>
          <a:lstStyle/>
          <a:p>
            <a:pPr/>
            <a:r>
              <a:t>Qualities of Legacy application</a:t>
            </a:r>
          </a:p>
          <a:p>
            <a:pPr lvl="1">
              <a:spcBef>
                <a:spcPts val="1000"/>
              </a:spcBef>
              <a:defRPr sz="2400"/>
            </a:pPr>
            <a:r>
              <a:t>Technical Characteristics: outdated tech, tight coupling, poor architecture/ design, low testability</a:t>
            </a:r>
          </a:p>
          <a:p>
            <a:pPr lvl="1">
              <a:spcBef>
                <a:spcPts val="1000"/>
              </a:spcBef>
              <a:defRPr sz="2400"/>
            </a:pPr>
            <a:r>
              <a:t>Human factors: loss of institutional knowledge; skill scarcity</a:t>
            </a:r>
          </a:p>
          <a:p>
            <a:pPr lvl="1">
              <a:spcBef>
                <a:spcPts val="1000"/>
              </a:spcBef>
              <a:defRPr sz="2400"/>
            </a:pPr>
            <a:r>
              <a:t>Operational Characteristics: high risk of change, costly maintenance </a:t>
            </a:r>
          </a:p>
          <a:p>
            <a:pPr lvl="1">
              <a:spcBef>
                <a:spcPts val="1000"/>
              </a:spcBef>
              <a:defRPr sz="2400"/>
            </a:pPr>
            <a:r>
              <a:t>Business &amp; Strategic factors: misaligned with current business needs, compliance/ security risks</a:t>
            </a:r>
          </a:p>
          <a:p>
            <a:pPr/>
            <a:r>
              <a:t>Different ways to address Legacy application </a:t>
            </a:r>
          </a:p>
          <a:p>
            <a:pPr lvl="1">
              <a:spcBef>
                <a:spcPts val="1000"/>
              </a:spcBef>
              <a:defRPr sz="2400"/>
            </a:pPr>
            <a:r>
              <a:t>Leave as is</a:t>
            </a:r>
          </a:p>
          <a:p>
            <a:pPr lvl="1">
              <a:spcBef>
                <a:spcPts val="1000"/>
              </a:spcBef>
              <a:defRPr sz="2400"/>
            </a:pPr>
            <a:r>
              <a:t>Refactor/ Modernize</a:t>
            </a:r>
          </a:p>
          <a:p>
            <a:pPr lvl="1">
              <a:spcBef>
                <a:spcPts val="1000"/>
              </a:spcBef>
              <a:defRPr sz="2400"/>
            </a:pPr>
            <a:r>
              <a:t>Re-platform</a:t>
            </a:r>
          </a:p>
          <a:p>
            <a:pPr lvl="1">
              <a:spcBef>
                <a:spcPts val="1000"/>
              </a:spcBef>
              <a:defRPr sz="2400"/>
            </a:pPr>
            <a:r>
              <a:t>Rewrite/ Replace</a:t>
            </a:r>
          </a:p>
          <a:p>
            <a:pPr lvl="1">
              <a:spcBef>
                <a:spcPts val="1000"/>
              </a:spcBef>
              <a:defRPr sz="2400"/>
            </a:pPr>
            <a:r>
              <a:t>Strangler pattern</a:t>
            </a:r>
          </a:p>
          <a:p>
            <a:pPr/>
            <a:r>
              <a:t>Observation: </a:t>
            </a:r>
          </a:p>
          <a:p>
            <a:pPr lvl="1">
              <a:spcBef>
                <a:spcPts val="1000"/>
              </a:spcBef>
              <a:defRPr sz="2400"/>
            </a:pPr>
            <a:r>
              <a:t>Investigate both code as well as business requirements; get latest business requirements; use AI to analyze -&gt; document -&gt; get specs; AI for wrap-around testing; tackle one feature at a time; </a:t>
            </a:r>
          </a:p>
        </p:txBody>
      </p:sp>
      <p:pic>
        <p:nvPicPr>
          <p:cNvPr id="180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3301" y="2534083"/>
            <a:ext cx="10401301" cy="2641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1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32087" y="9409756"/>
            <a:ext cx="7137401" cy="3187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2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703238" y="5768719"/>
            <a:ext cx="6997701" cy="3048001"/>
          </a:xfrm>
          <a:prstGeom prst="rect">
            <a:avLst/>
          </a:prstGeom>
          <a:ln w="12700">
            <a:miter lim="400000"/>
          </a:ln>
        </p:spPr>
      </p:pic>
      <p:sp>
        <p:nvSpPr>
          <p:cNvPr id="183" name="Estimate talk time: 3-5 minutes ?"/>
          <p:cNvSpPr txBox="1"/>
          <p:nvPr/>
        </p:nvSpPr>
        <p:spPr>
          <a:xfrm>
            <a:off x="16527169" y="12707921"/>
            <a:ext cx="7578345" cy="769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433FF"/>
                </a:solidFill>
              </a:defRPr>
            </a:lvl1pPr>
          </a:lstStyle>
          <a:p>
            <a:pPr/>
            <a:r>
              <a:t>Estimate talk time: 3-5 minutes 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Context for AI Code Assistan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1" indent="434340" defTabSz="2316479">
              <a:defRPr spc="-95" sz="9500"/>
            </a:pPr>
            <a:r>
              <a:t>Context for AI Code Assistants</a:t>
            </a:r>
          </a:p>
        </p:txBody>
      </p:sp>
      <p:sp>
        <p:nvSpPr>
          <p:cNvPr id="186" name="AI does not replace a task; it augments and helps with automation; work is still done by the developer…"/>
          <p:cNvSpPr txBox="1"/>
          <p:nvPr>
            <p:ph type="body" idx="1"/>
          </p:nvPr>
        </p:nvSpPr>
        <p:spPr>
          <a:xfrm>
            <a:off x="1206500" y="2428745"/>
            <a:ext cx="21971000" cy="10075771"/>
          </a:xfrm>
          <a:prstGeom prst="rect">
            <a:avLst/>
          </a:prstGeom>
        </p:spPr>
        <p:txBody>
          <a:bodyPr/>
          <a:lstStyle/>
          <a:p>
            <a:pPr/>
            <a:r>
              <a:t>AI does not replace a task; it augments and helps with automation; work is still done by the developer</a:t>
            </a:r>
          </a:p>
          <a:p>
            <a:pPr/>
            <a:r>
              <a:t>Developer is responsible for the code generated by the AI Assistant based on prompts provided</a:t>
            </a:r>
          </a:p>
          <a:p>
            <a:pPr/>
            <a:r>
              <a:t>Large number of Assistants are available; all are fairly similar; its a developers choice to pick one as per their style and need</a:t>
            </a:r>
          </a:p>
          <a:p>
            <a:pPr/>
            <a:r>
              <a:t>These code assistants can provide in-line suggestions while the developer is writing code or they allow developers to chat with it allowing AI to write code.</a:t>
            </a:r>
          </a:p>
          <a:p>
            <a:pPr/>
            <a:r>
              <a:t>SpecKit works with the chatbot option to generate the specifications; The developer along the way will need to use both styles of interaction with AI to reach the final outcome </a:t>
            </a:r>
          </a:p>
        </p:txBody>
      </p:sp>
      <p:sp>
        <p:nvSpPr>
          <p:cNvPr id="187" name="Estimate talk time: 3-5 minutes ?"/>
          <p:cNvSpPr txBox="1"/>
          <p:nvPr/>
        </p:nvSpPr>
        <p:spPr>
          <a:xfrm>
            <a:off x="16527169" y="12707921"/>
            <a:ext cx="7578345" cy="769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433FF"/>
                </a:solidFill>
              </a:defRPr>
            </a:lvl1pPr>
          </a:lstStyle>
          <a:p>
            <a:pPr/>
            <a:r>
              <a:t>Estimate talk time: 3-5 minutes 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ystem prompt vs User promp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System prompt vs User prompt</a:t>
            </a:r>
          </a:p>
        </p:txBody>
      </p:sp>
      <p:sp>
        <p:nvSpPr>
          <p:cNvPr id="190" name="System prompts establish how the AI Assistant should behave; provides global context, sets priorities; remains consistent across many user prompts…"/>
          <p:cNvSpPr txBox="1"/>
          <p:nvPr>
            <p:ph type="body" sz="half" idx="1"/>
          </p:nvPr>
        </p:nvSpPr>
        <p:spPr>
          <a:xfrm>
            <a:off x="12392255" y="2436140"/>
            <a:ext cx="10785245" cy="10068376"/>
          </a:xfrm>
          <a:prstGeom prst="rect">
            <a:avLst/>
          </a:prstGeom>
        </p:spPr>
        <p:txBody>
          <a:bodyPr/>
          <a:lstStyle/>
          <a:p>
            <a:pPr/>
            <a:r>
              <a:t>System prompts establish how the AI Assistant should behave; provides global context, sets priorities; remains consistent across many user prompts</a:t>
            </a:r>
          </a:p>
          <a:p>
            <a:pPr/>
            <a:r>
              <a:t>User prompts describe what task to perform right now, the context, inputs, constraints for that task</a:t>
            </a:r>
          </a:p>
          <a:p>
            <a:pPr/>
            <a:r>
              <a:t>In a way, SpecKit helps provide system prompts in a stan</a:t>
            </a:r>
          </a:p>
        </p:txBody>
      </p:sp>
      <p:pic>
        <p:nvPicPr>
          <p:cNvPr id="191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86871" y="2409825"/>
            <a:ext cx="10083801" cy="825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92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62032" y="3470313"/>
            <a:ext cx="7620001" cy="508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93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45404" y="4213301"/>
            <a:ext cx="8991601" cy="3467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94" name="pasted-movie.png" descr="pasted-movi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47700" y="9268526"/>
            <a:ext cx="6832600" cy="2197101"/>
          </a:xfrm>
          <a:prstGeom prst="rect">
            <a:avLst/>
          </a:prstGeom>
          <a:ln w="12700">
            <a:miter lim="400000"/>
          </a:ln>
        </p:spPr>
      </p:pic>
      <p:sp>
        <p:nvSpPr>
          <p:cNvPr id="195" name="Estimate talk time: 3-5 minutes ?"/>
          <p:cNvSpPr txBox="1"/>
          <p:nvPr/>
        </p:nvSpPr>
        <p:spPr>
          <a:xfrm>
            <a:off x="16527169" y="12707921"/>
            <a:ext cx="7578345" cy="769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433FF"/>
                </a:solidFill>
              </a:defRPr>
            </a:lvl1pPr>
          </a:lstStyle>
          <a:p>
            <a:pPr/>
            <a:r>
              <a:t>Estimate talk time: 3-5 minutes 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Context for SpecKi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Context for SpecKit</a:t>
            </a:r>
          </a:p>
        </p:txBody>
      </p:sp>
      <p:pic>
        <p:nvPicPr>
          <p:cNvPr id="198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61317" y="2684468"/>
            <a:ext cx="10248901" cy="7302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99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207912" y="8149294"/>
            <a:ext cx="9956801" cy="3619501"/>
          </a:xfrm>
          <a:prstGeom prst="rect">
            <a:avLst/>
          </a:prstGeom>
          <a:ln w="12700">
            <a:miter lim="400000"/>
          </a:ln>
        </p:spPr>
      </p:pic>
      <p:sp>
        <p:nvSpPr>
          <p:cNvPr id="200" name="SpecKit provides set of templates for AI Code Assistants (pull the latest).. use CLI to configure these templates for your Code Assistant or setup manually…"/>
          <p:cNvSpPr txBox="1"/>
          <p:nvPr>
            <p:ph type="body" sz="half" idx="1"/>
          </p:nvPr>
        </p:nvSpPr>
        <p:spPr>
          <a:xfrm>
            <a:off x="12392255" y="2436140"/>
            <a:ext cx="10785245" cy="10068376"/>
          </a:xfrm>
          <a:prstGeom prst="rect">
            <a:avLst/>
          </a:prstGeom>
        </p:spPr>
        <p:txBody>
          <a:bodyPr/>
          <a:lstStyle/>
          <a:p>
            <a:pPr marL="457199" indent="-457199">
              <a:defRPr sz="3000"/>
            </a:pPr>
            <a:r>
              <a:t>SpecKit provides set of templates for AI Code Assistants (pull the latest).. use CLI to configure these templates for your Code Assistant or setup manually</a:t>
            </a:r>
          </a:p>
          <a:p>
            <a:pPr marL="457199" indent="-457199">
              <a:defRPr sz="3000"/>
            </a:pPr>
            <a:r>
              <a:t>Philosophy: document the specification, plan, tasks very well before making code changes</a:t>
            </a:r>
          </a:p>
          <a:p>
            <a:pPr marL="457199" indent="-457199">
              <a:defRPr sz="3000"/>
            </a:pPr>
            <a:r>
              <a:t>What this means for a developer: </a:t>
            </a:r>
            <a:r>
              <a:rPr b="1">
                <a:latin typeface="Graphik"/>
                <a:ea typeface="Graphik"/>
                <a:cs typeface="Graphik"/>
                <a:sym typeface="Graphik"/>
              </a:rPr>
              <a:t>“</a:t>
            </a:r>
            <a:r>
              <a:rPr b="1" u="sng">
                <a:latin typeface="Graphik"/>
                <a:ea typeface="Graphik"/>
                <a:cs typeface="Graphik"/>
                <a:sym typeface="Graphik"/>
              </a:rPr>
              <a:t>document</a:t>
            </a:r>
            <a:r>
              <a:t> </a:t>
            </a:r>
            <a:r>
              <a:rPr u="sng"/>
              <a:t>accurately before you code</a:t>
            </a:r>
            <a:r>
              <a:rPr b="1">
                <a:latin typeface="Graphik"/>
                <a:ea typeface="Graphik"/>
                <a:cs typeface="Graphik"/>
                <a:sym typeface="Graphik"/>
              </a:rPr>
              <a:t>” </a:t>
            </a:r>
          </a:p>
        </p:txBody>
      </p:sp>
      <p:sp>
        <p:nvSpPr>
          <p:cNvPr id="201" name="Estimate talk time: 3-5 minutes ?"/>
          <p:cNvSpPr txBox="1"/>
          <p:nvPr/>
        </p:nvSpPr>
        <p:spPr>
          <a:xfrm>
            <a:off x="16527169" y="12707921"/>
            <a:ext cx="7578345" cy="769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0433FF"/>
                </a:solidFill>
              </a:defRPr>
            </a:lvl1pPr>
          </a:lstStyle>
          <a:p>
            <a:pPr/>
            <a:r>
              <a:t>Estimate talk time: 3-5 minutes 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Migrating a sample application from old tech stack to new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Migrating a sample application from old tech stack to new</a:t>
            </a:r>
          </a:p>
        </p:txBody>
      </p:sp>
      <p:sp>
        <p:nvSpPr>
          <p:cNvPr id="204" name="About the Experimen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About the Experiment</a:t>
            </a:r>
          </a:p>
        </p:txBody>
      </p:sp>
      <p:sp>
        <p:nvSpPr>
          <p:cNvPr id="205" name="Why is this app legacy? a working application written in 2017 on older tech stack; newer versions of Java, Gradle do not support that stack; one of the key libraries is no longer supported today; the app provides rest API which are expected to run 24/7 w"/>
          <p:cNvSpPr txBox="1"/>
          <p:nvPr>
            <p:ph type="body" idx="1"/>
          </p:nvPr>
        </p:nvSpPr>
        <p:spPr>
          <a:xfrm>
            <a:off x="1206500" y="3859534"/>
            <a:ext cx="21971000" cy="9033951"/>
          </a:xfrm>
          <a:prstGeom prst="rect">
            <a:avLst/>
          </a:prstGeom>
        </p:spPr>
        <p:txBody>
          <a:bodyPr/>
          <a:lstStyle/>
          <a:p>
            <a:pPr>
              <a:defRPr sz="3200"/>
            </a:pPr>
            <a:r>
              <a:t>Why is this app legacy? a working application written in 2017 on older tech stack; newer versions of Java, Gradle do not support that stack; one of the key libraries is no longer supported today; the app provides rest API which are expected to run 24/7 with a high transaction volume of up to 3,000 transactions per minute.</a:t>
            </a:r>
          </a:p>
          <a:p>
            <a:pPr>
              <a:defRPr sz="3200"/>
            </a:pPr>
            <a:r>
              <a:t>This experiment was started before I knew about SpecKit; hence it used AI Assistant following a plan and set sequence of instructions </a:t>
            </a:r>
          </a:p>
          <a:p>
            <a:pPr>
              <a:defRPr sz="3200"/>
            </a:pPr>
            <a:r>
              <a:t>Refactoring and modernization technique was used </a:t>
            </a:r>
          </a:p>
          <a:p>
            <a:pPr>
              <a:defRPr sz="3200"/>
            </a:pPr>
            <a:r>
              <a:t>Key points: </a:t>
            </a:r>
          </a:p>
          <a:p>
            <a:pPr lvl="1">
              <a:spcBef>
                <a:spcPts val="2000"/>
              </a:spcBef>
              <a:defRPr sz="3200"/>
            </a:pPr>
            <a:r>
              <a:t>Initial app was developed by myself in 2017; so the entire codebase as well as business requirements were well known; this was not a black-box</a:t>
            </a:r>
          </a:p>
          <a:p>
            <a:pPr lvl="1">
              <a:spcBef>
                <a:spcPts val="2000"/>
              </a:spcBef>
              <a:defRPr sz="3200"/>
            </a:pPr>
            <a:r>
              <a:t>Target tech stack after upgrade was also known before hand</a:t>
            </a:r>
          </a:p>
          <a:p>
            <a:pPr lvl="1">
              <a:spcBef>
                <a:spcPts val="2000"/>
              </a:spcBef>
              <a:defRPr sz="3200"/>
            </a:pPr>
            <a:r>
              <a:t>Experiment was with sequencing instructions to the AI Assistant and testing each step of the way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nning to work with AI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Planning to work with AI</a:t>
            </a:r>
          </a:p>
        </p:txBody>
      </p:sp>
      <p:sp>
        <p:nvSpPr>
          <p:cNvPr id="208" name="To-be-documented…"/>
          <p:cNvSpPr txBox="1"/>
          <p:nvPr>
            <p:ph type="body" idx="1"/>
          </p:nvPr>
        </p:nvSpPr>
        <p:spPr>
          <a:xfrm>
            <a:off x="1206500" y="2808469"/>
            <a:ext cx="21971000" cy="9696047"/>
          </a:xfrm>
          <a:prstGeom prst="rect">
            <a:avLst/>
          </a:prstGeom>
        </p:spPr>
        <p:txBody>
          <a:bodyPr/>
          <a:lstStyle/>
          <a:p>
            <a:pPr/>
            <a:r>
              <a:t>To-be-documented</a:t>
            </a:r>
          </a:p>
          <a:p>
            <a:pPr/>
            <a:r>
              <a:t>How I planned/ broke-down migration effort into phases and steps for making changes </a:t>
            </a:r>
          </a:p>
          <a:p>
            <a:pPr/>
            <a:r>
              <a:t>Sequencing and prioritization of the phases and steps</a:t>
            </a:r>
          </a:p>
          <a:p>
            <a:pPr/>
            <a:r>
              <a:t>Making the AI analyze the current codebase itself and match its analysis with my own experience creating the original app</a:t>
            </a:r>
          </a:p>
          <a:p>
            <a:pPr/>
            <a:r>
              <a:t>Getting the ground ready to let AI start making changes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1" name="Glimpse of First Analysi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Glimpse of First Analysis</a:t>
            </a:r>
          </a:p>
        </p:txBody>
      </p:sp>
      <p:sp>
        <p:nvSpPr>
          <p:cNvPr id="212" name="To-be-documented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To-be-documented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5" name="Journey of chang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Journey of changes</a:t>
            </a:r>
          </a:p>
        </p:txBody>
      </p:sp>
      <p:sp>
        <p:nvSpPr>
          <p:cNvPr id="216" name="To-be-documented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To-be-documented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9" name="Arrive at API working with new stac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Arrive at API working with new stack</a:t>
            </a:r>
          </a:p>
        </p:txBody>
      </p:sp>
      <p:sp>
        <p:nvSpPr>
          <p:cNvPr id="220" name="To-be-documented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To-be-documented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3" name="Increase testabilit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Increase testability</a:t>
            </a:r>
          </a:p>
        </p:txBody>
      </p:sp>
      <p:sp>
        <p:nvSpPr>
          <p:cNvPr id="224" name="To-be-documented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To-be-documented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7" name="Adding new featur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Adding new feature</a:t>
            </a:r>
          </a:p>
        </p:txBody>
      </p:sp>
      <p:sp>
        <p:nvSpPr>
          <p:cNvPr id="228" name="To-be-documented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To-be-documented</a:t>
            </a:r>
          </a:p>
          <a:p>
            <a:pPr/>
            <a:r>
              <a:t>This app was not having a client for the API — either a web-frontend or a CLI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1" name="Adding documentation for the app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Adding documentation for the app</a:t>
            </a:r>
          </a:p>
        </p:txBody>
      </p:sp>
      <p:sp>
        <p:nvSpPr>
          <p:cNvPr id="232" name="Slide bullet tex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5" name="Summarizing the study using Mkdoc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Summarizing the study using Mkdocs</a:t>
            </a:r>
          </a:p>
        </p:txBody>
      </p:sp>
      <p:sp>
        <p:nvSpPr>
          <p:cNvPr id="236" name="To-be-documented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To-be-documented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“Working effectively with Legacy Code” by Michael Feathers (2004)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“Working effectively with Legacy Code” by Michael Feathers (2004)</a:t>
            </a:r>
          </a:p>
        </p:txBody>
      </p:sp>
      <p:sp>
        <p:nvSpPr>
          <p:cNvPr id="239" name="Old advice is still relevan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Old advice is still relevant </a:t>
            </a:r>
          </a:p>
        </p:txBody>
      </p:sp>
      <p:sp>
        <p:nvSpPr>
          <p:cNvPr id="240" name="First add tests and then do your change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38911" indent="-438911" defTabSz="341375">
              <a:spcBef>
                <a:spcPts val="4500"/>
              </a:spcBef>
              <a:defRPr sz="3839"/>
            </a:pPr>
            <a:r>
              <a:t>First add tests and then do your changes</a:t>
            </a:r>
          </a:p>
          <a:p>
            <a:pPr marL="438911" indent="-438911" defTabSz="341375">
              <a:spcBef>
                <a:spcPts val="4500"/>
              </a:spcBef>
              <a:defRPr sz="3839"/>
            </a:pPr>
            <a:r>
              <a:t>Identify places to alter program behavior without changing code (“seams”)</a:t>
            </a:r>
          </a:p>
          <a:p>
            <a:pPr marL="438911" indent="-438911" defTabSz="341375">
              <a:spcBef>
                <a:spcPts val="4500"/>
              </a:spcBef>
              <a:defRPr sz="3839"/>
            </a:pPr>
            <a:r>
              <a:t>Create tests that characterizes behavior of the piece of code</a:t>
            </a:r>
          </a:p>
          <a:p>
            <a:pPr marL="438911" indent="-438911" defTabSz="341375">
              <a:spcBef>
                <a:spcPts val="4500"/>
              </a:spcBef>
              <a:defRPr sz="3839"/>
            </a:pPr>
            <a:r>
              <a:t>Use sprout and wrap techniques </a:t>
            </a:r>
          </a:p>
          <a:p>
            <a:pPr marL="438911" indent="-438911" defTabSz="341375">
              <a:spcBef>
                <a:spcPts val="4500"/>
              </a:spcBef>
              <a:defRPr sz="3839"/>
            </a:pPr>
            <a:r>
              <a:t>Sprout: create code in separate module/ package; test it; identify insertion point; call it from legacy code</a:t>
            </a:r>
          </a:p>
          <a:p>
            <a:pPr marL="438911" indent="-438911" defTabSz="341375">
              <a:spcBef>
                <a:spcPts val="4500"/>
              </a:spcBef>
              <a:defRPr sz="3839"/>
            </a:pPr>
            <a:r>
              <a:t>Wrap: rename old method you want to wrap; create a new method with same signature as old; call old method from new; put logic before &amp; after call; like AOP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rovide references to what other developers are researching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Provide references to what other developers are researching </a:t>
            </a:r>
          </a:p>
        </p:txBody>
      </p:sp>
      <p:sp>
        <p:nvSpPr>
          <p:cNvPr id="243" name="From other developer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From other developers</a:t>
            </a:r>
          </a:p>
        </p:txBody>
      </p:sp>
      <p:sp>
        <p:nvSpPr>
          <p:cNvPr id="244" name="To-be-documented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To-be-documented</a:t>
            </a:r>
          </a:p>
          <a:p>
            <a:pPr/>
            <a:r>
              <a:rPr u="sng">
                <a:hlinkClick r:id="rId2" invalidUrl="" action="" tgtFrame="" tooltip="" history="1" highlightClick="0" endSnd="0"/>
              </a:rPr>
              <a:t>https://martinfowler.com/articles/legacy-modernization-gen-ai.html</a:t>
            </a:r>
          </a:p>
          <a:p>
            <a:pPr/>
            <a:r>
              <a:rPr u="sng">
                <a:hlinkClick r:id="rId3" invalidUrl="" action="" tgtFrame="" tooltip="" history="1" highlightClick="0" endSnd="0"/>
              </a:rPr>
              <a:t>https://www.thoughtworks.com/en-in/insights/podcasts/technology-podcasts/using-generative-ai-legacy-modernization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8_MinimalistLight">
  <a:themeElements>
    <a:clrScheme name="38_MinimalistLight">
      <a:dk1>
        <a:srgbClr val="53585F"/>
      </a:dk1>
      <a:lt1>
        <a:srgbClr val="FFFFFF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8_Minimalist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8_Minimalist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-9155"/>
            <a:lumOff val="-32673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>
              <a:satOff val="-9155"/>
              <a:lumOff val="-32673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chemeClr val="accent1">
                <a:satOff val="-9155"/>
                <a:lumOff val="-32673"/>
              </a:schemeClr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8_MinimalistLight">
  <a:themeElements>
    <a:clrScheme name="38_MinimalistLight">
      <a:dk1>
        <a:srgbClr val="000000"/>
      </a:dk1>
      <a:lt1>
        <a:srgbClr val="FFFFFF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8_Minimalist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8_Minimalist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-9155"/>
            <a:lumOff val="-32673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>
              <a:satOff val="-9155"/>
              <a:lumOff val="-32673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chemeClr val="accent1">
                <a:satOff val="-9155"/>
                <a:lumOff val="-32673"/>
              </a:schemeClr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